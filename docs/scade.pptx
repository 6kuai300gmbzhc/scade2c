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  <p:sldId id="288" r:id="rId33"/>
    <p:sldId id="289" r:id="rId34"/>
    <p:sldId id="290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4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type</a:t>
            </a:r>
            <a:r>
              <a:rPr kumimoji="1" lang="zh-CN" altLang="en-US" b="1" dirty="0"/>
              <a:t>定义结构体</a:t>
            </a:r>
            <a:endParaRPr kumimoji="1" lang="en-US" altLang="zh-CN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CBF17A-84B8-4CF2-77FF-21AA33163087}"/>
              </a:ext>
            </a:extLst>
          </p:cNvPr>
          <p:cNvSpPr txBox="1"/>
          <p:nvPr/>
        </p:nvSpPr>
        <p:spPr>
          <a:xfrm>
            <a:off x="506776" y="3272010"/>
            <a:ext cx="587199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 err="1"/>
              <a:t>Scade</a:t>
            </a:r>
            <a:r>
              <a:rPr lang="zh-CN" altLang="en" dirty="0"/>
              <a:t>程序</a:t>
            </a:r>
            <a:endParaRPr lang="en-US" altLang="zh-CN" dirty="0"/>
          </a:p>
          <a:p>
            <a:r>
              <a:rPr lang="en" altLang="zh-CN" dirty="0"/>
              <a:t>type t2={tt1:bool,tt2:int32,tt3:float32};</a:t>
            </a:r>
          </a:p>
          <a:p>
            <a:endParaRPr kumimoji="1" lang="en" altLang="zh-CN" dirty="0"/>
          </a:p>
          <a:p>
            <a:r>
              <a:rPr kumimoji="1" lang="zh-CN" altLang="en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}t2;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540211-1E29-EE43-C91B-D5F08304F497}"/>
              </a:ext>
            </a:extLst>
          </p:cNvPr>
          <p:cNvSpPr txBox="1"/>
          <p:nvPr/>
        </p:nvSpPr>
        <p:spPr>
          <a:xfrm>
            <a:off x="5464366" y="3241094"/>
            <a:ext cx="46270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Scade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 t3={tt1:bool,tt2:int32,tt3:float32}^2;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bool tt1;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int tt2; </a:t>
            </a:r>
          </a:p>
          <a:p>
            <a:r>
              <a:rPr lang="zh-CN" altLang="en-US" dirty="0"/>
              <a:t>    </a:t>
            </a:r>
            <a:r>
              <a:rPr lang="en" altLang="zh-CN" dirty="0"/>
              <a:t>float tt3; </a:t>
            </a:r>
          </a:p>
          <a:p>
            <a:r>
              <a:rPr lang="en" altLang="zh-CN" dirty="0"/>
              <a:t>}t3[2];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/>
              <a:t>使用</a:t>
            </a:r>
            <a:r>
              <a:rPr kumimoji="1" lang="en-US" altLang="zh-CN" b="1" dirty="0"/>
              <a:t>const</a:t>
            </a:r>
            <a:r>
              <a:rPr kumimoji="1" lang="zh-CN" altLang="en-US" b="1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52699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/>
              <a:t>直接用于输入输出参数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9A989B-1342-875B-830D-2D32D37381E3}"/>
              </a:ext>
            </a:extLst>
          </p:cNvPr>
          <p:cNvSpPr txBox="1"/>
          <p:nvPr/>
        </p:nvSpPr>
        <p:spPr>
          <a:xfrm>
            <a:off x="198304" y="760164"/>
            <a:ext cx="60372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type t2={tt1:bool,tt2:int32,tt3:float32}; </a:t>
            </a:r>
          </a:p>
          <a:p>
            <a:endParaRPr lang="en-US" altLang="zh-CN" dirty="0"/>
          </a:p>
          <a:p>
            <a:r>
              <a:rPr lang="en" altLang="zh-CN" dirty="0"/>
              <a:t>const c7:t2={tt1:false,tt2:8,tt3:0.2}; </a:t>
            </a:r>
          </a:p>
          <a:p>
            <a:endParaRPr lang="en" altLang="zh-CN" dirty="0"/>
          </a:p>
          <a:p>
            <a:r>
              <a:rPr lang="en" altLang="zh-CN" dirty="0"/>
              <a:t>type t3={tt1:bool,tt2:int32,tt3:float32}^2; </a:t>
            </a:r>
          </a:p>
          <a:p>
            <a:endParaRPr lang="en" altLang="zh-CN" dirty="0"/>
          </a:p>
          <a:p>
            <a:r>
              <a:rPr lang="en" altLang="zh-CN" dirty="0"/>
              <a:t>const c8:t3=[{tt1:false,tt2:3,tt3:0.1},{tt1:true,tt2:2,tt3:0.2}];</a:t>
            </a:r>
          </a:p>
          <a:p>
            <a:endParaRPr kumimoji="1" lang="en" altLang="zh-CN" dirty="0"/>
          </a:p>
          <a:p>
            <a:r>
              <a:rPr lang="en" altLang="zh-CN" dirty="0"/>
              <a:t>const c9:{tt1:bool,tt2:int8}={tt1:false,tt2:8};</a:t>
            </a:r>
            <a:endParaRPr kumimoji="1"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1B304B-640A-D613-97E1-122CCD2E428B}"/>
              </a:ext>
            </a:extLst>
          </p:cNvPr>
          <p:cNvSpPr txBox="1"/>
          <p:nvPr/>
        </p:nvSpPr>
        <p:spPr>
          <a:xfrm>
            <a:off x="6096000" y="578652"/>
            <a:ext cx="54827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转化后</a:t>
            </a:r>
            <a:r>
              <a:rPr kumimoji="1" lang="en-US" altLang="zh-CN" dirty="0"/>
              <a:t>C</a:t>
            </a:r>
            <a:r>
              <a:rPr kumimoji="1" lang="zh-CN" altLang="en-US" dirty="0"/>
              <a:t>程序</a:t>
            </a:r>
            <a:endParaRPr kumimoji="1" lang="en-US" altLang="zh-CN" dirty="0"/>
          </a:p>
          <a:p>
            <a:r>
              <a:rPr lang="en" altLang="zh-CN" dirty="0"/>
              <a:t>extern const t2 c7 = {false,8,0.2};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lang="en" altLang="zh-CN" dirty="0"/>
              <a:t>extern const t3 c8 = { {false,</a:t>
            </a:r>
            <a:r>
              <a:rPr lang="en-US" altLang="zh-CN" dirty="0"/>
              <a:t>3,</a:t>
            </a:r>
            <a:r>
              <a:rPr lang="en" altLang="zh-CN" dirty="0"/>
              <a:t>0.1},{true,2,0.2} };</a:t>
            </a:r>
          </a:p>
          <a:p>
            <a:endParaRPr kumimoji="1" lang="en-US" altLang="zh-CN" dirty="0"/>
          </a:p>
          <a:p>
            <a:r>
              <a:rPr lang="en" altLang="zh-CN" dirty="0"/>
              <a:t>typedef struct { </a:t>
            </a:r>
          </a:p>
          <a:p>
            <a:r>
              <a:rPr lang="en" altLang="zh-CN" dirty="0"/>
              <a:t>    bool tt1; </a:t>
            </a:r>
          </a:p>
          <a:p>
            <a:r>
              <a:rPr lang="en" altLang="zh-CN" dirty="0"/>
              <a:t>    int tt2; </a:t>
            </a:r>
          </a:p>
          <a:p>
            <a:r>
              <a:rPr lang="en" altLang="zh-CN" dirty="0"/>
              <a:t>}</a:t>
            </a:r>
            <a:r>
              <a:rPr lang="en" altLang="zh-CN" dirty="0" err="1"/>
              <a:t>tmp</a:t>
            </a:r>
            <a:r>
              <a:rPr lang="en" altLang="zh-CN" dirty="0"/>
              <a:t>;</a:t>
            </a:r>
            <a:endParaRPr kumimoji="1" lang="en-US" altLang="zh-CN" dirty="0"/>
          </a:p>
          <a:p>
            <a:r>
              <a:rPr lang="en" altLang="zh-CN" dirty="0"/>
              <a:t>extern const </a:t>
            </a:r>
            <a:r>
              <a:rPr lang="en" altLang="zh-CN" dirty="0" err="1"/>
              <a:t>tmp</a:t>
            </a:r>
            <a:r>
              <a:rPr lang="en" altLang="zh-CN" dirty="0"/>
              <a:t> c9 = { false,8 };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425160-48CA-BC6A-145B-C892A627DC0D}"/>
              </a:ext>
            </a:extLst>
          </p:cNvPr>
          <p:cNvSpPr txBox="1"/>
          <p:nvPr/>
        </p:nvSpPr>
        <p:spPr>
          <a:xfrm>
            <a:off x="198304" y="4087258"/>
            <a:ext cx="63677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dirty="0"/>
              <a:t>function </a:t>
            </a:r>
            <a:r>
              <a:rPr lang="en" altLang="zh-CN" dirty="0" err="1"/>
              <a:t>structTest</a:t>
            </a:r>
            <a:r>
              <a:rPr lang="en" altLang="zh-CN" dirty="0"/>
              <a:t>(in1:{t1:int32}) returns(o1:int32) </a:t>
            </a:r>
          </a:p>
          <a:p>
            <a:r>
              <a:rPr lang="en" altLang="zh-CN" dirty="0"/>
              <a:t>let </a:t>
            </a:r>
          </a:p>
          <a:p>
            <a:r>
              <a:rPr lang="en" altLang="zh-CN" dirty="0"/>
              <a:t>    o1=in1.t1+3; </a:t>
            </a:r>
          </a:p>
          <a:p>
            <a:r>
              <a:rPr lang="en" altLang="zh-CN" dirty="0" err="1"/>
              <a:t>tel</a:t>
            </a:r>
            <a:endParaRPr kumimoji="1"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0CD1F6-6926-493C-9A6A-2D674456FFF7}"/>
              </a:ext>
            </a:extLst>
          </p:cNvPr>
          <p:cNvSpPr txBox="1"/>
          <p:nvPr/>
        </p:nvSpPr>
        <p:spPr>
          <a:xfrm>
            <a:off x="5716471" y="4739850"/>
            <a:ext cx="632386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structTest(inC_structTest *inC, outC_structTest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outC-&gt;o1 = inC-&gt;in1.t1 + kcg_lit_int32(3);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42F8D1B-2C49-41BE-BC91-86B0CD34C4C8}"/>
              </a:ext>
            </a:extLst>
          </p:cNvPr>
          <p:cNvSpPr txBox="1"/>
          <p:nvPr/>
        </p:nvSpPr>
        <p:spPr>
          <a:xfrm>
            <a:off x="9240294" y="3711665"/>
            <a:ext cx="26721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tmp2 in1; </a:t>
            </a:r>
          </a:p>
          <a:p>
            <a:r>
              <a:rPr lang="en-US" altLang="zh-CN"/>
              <a:t>} inC_structTest;</a:t>
            </a: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1C60878-2AE5-468A-B519-123A0F8E3A4A}"/>
              </a:ext>
            </a:extLst>
          </p:cNvPr>
          <p:cNvSpPr txBox="1"/>
          <p:nvPr/>
        </p:nvSpPr>
        <p:spPr>
          <a:xfrm>
            <a:off x="6235547" y="3737603"/>
            <a:ext cx="36043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 </a:t>
            </a:r>
          </a:p>
          <a:p>
            <a:r>
              <a:rPr lang="en-US" altLang="zh-CN"/>
              <a:t>kcg_int32 t1; </a:t>
            </a:r>
          </a:p>
          <a:p>
            <a:r>
              <a:rPr lang="en-US" altLang="zh-CN"/>
              <a:t>} tmp2;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677685D-F885-4F12-BF43-DDE8CF0D1C0E}"/>
              </a:ext>
            </a:extLst>
          </p:cNvPr>
          <p:cNvSpPr txBox="1"/>
          <p:nvPr/>
        </p:nvSpPr>
        <p:spPr>
          <a:xfrm>
            <a:off x="308472" y="2510642"/>
            <a:ext cx="5930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/>
              <a:t>const c7:t2={tt1:false,tt2:8,tt3:0.2}; 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DC0587-5B7C-42E2-B2EA-7E6AF9FFF17F}"/>
              </a:ext>
            </a:extLst>
          </p:cNvPr>
          <p:cNvSpPr txBox="1"/>
          <p:nvPr/>
        </p:nvSpPr>
        <p:spPr>
          <a:xfrm>
            <a:off x="399495" y="1864311"/>
            <a:ext cx="377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const</a:t>
            </a:r>
            <a:r>
              <a:rPr lang="zh-CN" altLang="en-US" b="1"/>
              <a:t>初始化</a:t>
            </a:r>
            <a:endParaRPr lang="en-US" altLang="zh-CN" b="1"/>
          </a:p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00975D-BC29-478A-8EE4-7A8B5B1DDAAD}"/>
              </a:ext>
            </a:extLst>
          </p:cNvPr>
          <p:cNvSpPr txBox="1"/>
          <p:nvPr/>
        </p:nvSpPr>
        <p:spPr>
          <a:xfrm>
            <a:off x="399495" y="2947387"/>
            <a:ext cx="415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</a:t>
            </a:r>
            <a:r>
              <a:rPr lang="en-US" altLang="zh-CN"/>
              <a:t>C</a:t>
            </a:r>
            <a:r>
              <a:rPr lang="zh-CN" altLang="en-US"/>
              <a:t>程序</a:t>
            </a:r>
            <a:endParaRPr lang="en" altLang="zh-CN"/>
          </a:p>
          <a:p>
            <a:r>
              <a:rPr lang="en" altLang="zh-CN"/>
              <a:t>extern const t2 c7 = {false,8,0.2};</a:t>
            </a:r>
            <a:endParaRPr kumimoji="1" lang="en-US" altLang="zh-CN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BFFF9E3-BC37-4E28-8C8B-8277630EC54A}"/>
              </a:ext>
            </a:extLst>
          </p:cNvPr>
          <p:cNvSpPr txBox="1"/>
          <p:nvPr/>
        </p:nvSpPr>
        <p:spPr>
          <a:xfrm>
            <a:off x="0" y="7820"/>
            <a:ext cx="4296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未添加的文法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6F0CC9D-E49A-41E7-B339-CCE8F7D9A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30" y="703099"/>
            <a:ext cx="5410669" cy="126503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AD52B07-C55C-4753-B484-99D9AE259239}"/>
              </a:ext>
            </a:extLst>
          </p:cNvPr>
          <p:cNvSpPr txBox="1"/>
          <p:nvPr/>
        </p:nvSpPr>
        <p:spPr>
          <a:xfrm>
            <a:off x="159799" y="2254928"/>
            <a:ext cx="940145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Params ::= ( Params_1 )</a:t>
            </a:r>
            <a:br>
              <a:rPr lang="en-US" altLang="zh-CN"/>
            </a:br>
            <a:r>
              <a:rPr lang="en-US" altLang="zh-CN"/>
              <a:t>Params_1 ::= Var_decls Params_2</a:t>
            </a:r>
            <a:br>
              <a:rPr lang="en-US" altLang="zh-CN"/>
            </a:br>
            <a:r>
              <a:rPr lang="en-US" altLang="zh-CN"/>
              <a:t>          	::= $</a:t>
            </a:r>
            <a:br>
              <a:rPr lang="en-US" altLang="zh-CN"/>
            </a:br>
            <a:r>
              <a:rPr lang="en-US" altLang="zh-CN"/>
              <a:t>Params_2 ::= ; Var_decls Params_2</a:t>
            </a:r>
            <a:br>
              <a:rPr lang="en-US" altLang="zh-CN"/>
            </a:br>
            <a:r>
              <a:rPr lang="en-US" altLang="zh-CN"/>
              <a:t>          	::= $</a:t>
            </a:r>
          </a:p>
          <a:p>
            <a:r>
              <a:rPr lang="en-US" altLang="zh-CN"/>
              <a:t>Var_decls ::= Var_id Var_decls_1 : Type_expr Var_decls_2 </a:t>
            </a:r>
          </a:p>
          <a:p>
            <a:r>
              <a:rPr lang="en-US" altLang="zh-CN"/>
              <a:t>	       Var_decls_3 Var_decls_4</a:t>
            </a:r>
            <a:br>
              <a:rPr lang="en-US" altLang="zh-CN"/>
            </a:br>
            <a:r>
              <a:rPr lang="en-US" altLang="zh-CN"/>
              <a:t>Var_decls_1 ::= , Var_id Var_decls_1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Var_decls_2 ::= When_decl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Var_decls_3 ::= Default_decl</a:t>
            </a:r>
            <a:br>
              <a:rPr lang="en-US" altLang="zh-CN"/>
            </a:br>
            <a:r>
              <a:rPr lang="en-US" altLang="zh-CN"/>
              <a:t>             ::= $</a:t>
            </a:r>
            <a:br>
              <a:rPr lang="en-US" altLang="zh-CN"/>
            </a:br>
            <a:r>
              <a:rPr lang="en-US" altLang="zh-CN"/>
              <a:t>Var_decls_4 ::= Last_decl</a:t>
            </a:r>
            <a:br>
              <a:rPr lang="en-US" altLang="zh-CN"/>
            </a:br>
            <a:r>
              <a:rPr lang="en-US" altLang="zh-CN"/>
              <a:t>             ::= $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Last_decl ::= last = Expr</a:t>
            </a:r>
          </a:p>
          <a:p>
            <a:endParaRPr lang="en-US" altLang="zh-CN"/>
          </a:p>
          <a:p>
            <a:endParaRPr lang="en-US" altLang="zh-CN"/>
          </a:p>
          <a:p>
            <a:endParaRPr lang="zh-CN" alt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9819853-7079-4370-BA2D-6FAF3799E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321" y="880707"/>
            <a:ext cx="4671465" cy="563928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D493EE6-A6E6-45D0-88BA-FD0458E05BBB}"/>
              </a:ext>
            </a:extLst>
          </p:cNvPr>
          <p:cNvSpPr txBox="1"/>
          <p:nvPr/>
        </p:nvSpPr>
        <p:spPr>
          <a:xfrm>
            <a:off x="266330" y="33376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F70CD5-5FD4-458F-8FE7-D71A44454A7C}"/>
              </a:ext>
            </a:extLst>
          </p:cNvPr>
          <p:cNvSpPr txBox="1"/>
          <p:nvPr/>
        </p:nvSpPr>
        <p:spPr>
          <a:xfrm>
            <a:off x="6810321" y="33800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转化后的</a:t>
            </a:r>
            <a:r>
              <a:rPr lang="en-US" altLang="zh-CN"/>
              <a:t>C</a:t>
            </a:r>
            <a:r>
              <a:rPr lang="zh-CN" altLang="en-US"/>
              <a:t>程序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B74BDED-88A2-4A9F-9669-25E342E12837}"/>
              </a:ext>
            </a:extLst>
          </p:cNvPr>
          <p:cNvSpPr txBox="1"/>
          <p:nvPr/>
        </p:nvSpPr>
        <p:spPr>
          <a:xfrm>
            <a:off x="159799" y="1968129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</p:spTree>
    <p:extLst>
      <p:ext uri="{BB962C8B-B14F-4D97-AF65-F5344CB8AC3E}">
        <p14:creationId xmlns:p14="http://schemas.microsoft.com/office/powerpoint/2010/main" val="2412528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8C0155E-3684-4970-BCC2-2179DDF32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95" y="675097"/>
            <a:ext cx="5601001" cy="309398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7B711BD-C297-422E-848A-8FB2D0D01837}"/>
              </a:ext>
            </a:extLst>
          </p:cNvPr>
          <p:cNvSpPr txBox="1"/>
          <p:nvPr/>
        </p:nvSpPr>
        <p:spPr>
          <a:xfrm>
            <a:off x="329283" y="4820575"/>
            <a:ext cx="338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Id_expr</a:t>
            </a:r>
          </a:p>
          <a:p>
            <a:r>
              <a:rPr lang="en-US" altLang="zh-CN"/>
              <a:t>Id_expr ::= Path_id</a:t>
            </a:r>
            <a:br>
              <a:rPr lang="en-US" altLang="zh-CN"/>
            </a:br>
            <a:r>
              <a:rPr lang="en-US" altLang="zh-CN"/>
              <a:t>         ::= name</a:t>
            </a:r>
            <a:br>
              <a:rPr lang="en-US" altLang="zh-CN"/>
            </a:br>
            <a:r>
              <a:rPr lang="en-US" altLang="zh-CN"/>
              <a:t>         ::= </a:t>
            </a:r>
            <a:r>
              <a:rPr lang="en-US" altLang="zh-CN" b="1">
                <a:solidFill>
                  <a:srgbClr val="FF0000"/>
                </a:solidFill>
              </a:rPr>
              <a:t>last name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B0C2B3E-589C-4365-9375-C3E6D1C5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73" y="819889"/>
            <a:ext cx="6165114" cy="5898391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7AD7516-2341-4941-839F-A19A9D3C6C09}"/>
              </a:ext>
            </a:extLst>
          </p:cNvPr>
          <p:cNvSpPr txBox="1"/>
          <p:nvPr/>
        </p:nvSpPr>
        <p:spPr>
          <a:xfrm>
            <a:off x="329283" y="4451243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AB46DB-2FC9-425B-A11D-FA601EF284B1}"/>
              </a:ext>
            </a:extLst>
          </p:cNvPr>
          <p:cNvSpPr txBox="1"/>
          <p:nvPr/>
        </p:nvSpPr>
        <p:spPr>
          <a:xfrm>
            <a:off x="204995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742FEF-16B7-4F2D-A9D6-99DC55FC8153}"/>
              </a:ext>
            </a:extLst>
          </p:cNvPr>
          <p:cNvSpPr txBox="1"/>
          <p:nvPr/>
        </p:nvSpPr>
        <p:spPr>
          <a:xfrm>
            <a:off x="5894773" y="305765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3772738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AD2EB48-CAE0-45C1-98BC-E5FD1AF53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81" y="867534"/>
            <a:ext cx="4610500" cy="228619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B557F75-5F2C-4A63-8663-B8434B4D6423}"/>
              </a:ext>
            </a:extLst>
          </p:cNvPr>
          <p:cNvSpPr txBox="1"/>
          <p:nvPr/>
        </p:nvSpPr>
        <p:spPr>
          <a:xfrm>
            <a:off x="319581" y="4455738"/>
            <a:ext cx="39061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Arith_expr ::= Unary_arith_op Expr</a:t>
            </a:r>
            <a:br>
              <a:rPr lang="en-US" altLang="zh-CN"/>
            </a:br>
            <a:r>
              <a:rPr lang="en-US" altLang="zh-CN"/>
              <a:t>            ::= Expr Bin_arith_op Expr</a:t>
            </a:r>
            <a:br>
              <a:rPr lang="en-US" altLang="zh-CN"/>
            </a:br>
            <a:r>
              <a:rPr lang="en-US" altLang="zh-CN"/>
              <a:t>            ::= ( Expr : Type_expr )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883907C-6C52-4C57-AA96-7A7E92AC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04" y="867534"/>
            <a:ext cx="6294665" cy="96020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C270135E-E36D-48AC-85C3-63AFB38DF72E}"/>
              </a:ext>
            </a:extLst>
          </p:cNvPr>
          <p:cNvSpPr txBox="1"/>
          <p:nvPr/>
        </p:nvSpPr>
        <p:spPr>
          <a:xfrm>
            <a:off x="231628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2F779CE-245C-430B-ABD2-076BEEDED188}"/>
              </a:ext>
            </a:extLst>
          </p:cNvPr>
          <p:cNvSpPr txBox="1"/>
          <p:nvPr/>
        </p:nvSpPr>
        <p:spPr>
          <a:xfrm>
            <a:off x="319581" y="3929334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对应的文法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5CA99-12AE-48CE-A5C0-FF19CAB8918C}"/>
              </a:ext>
            </a:extLst>
          </p:cNvPr>
          <p:cNvSpPr txBox="1"/>
          <p:nvPr/>
        </p:nvSpPr>
        <p:spPr>
          <a:xfrm>
            <a:off x="5514497" y="376787"/>
            <a:ext cx="2246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对应的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4163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3065</TotalTime>
  <Words>1902</Words>
  <Application>Microsoft Office PowerPoint</Application>
  <PresentationFormat>宽屏</PresentationFormat>
  <Paragraphs>218</Paragraphs>
  <Slides>34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3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61</cp:revision>
  <dcterms:created xsi:type="dcterms:W3CDTF">2023-07-31T07:47:37Z</dcterms:created>
  <dcterms:modified xsi:type="dcterms:W3CDTF">2023-12-18T05:37:23Z</dcterms:modified>
</cp:coreProperties>
</file>