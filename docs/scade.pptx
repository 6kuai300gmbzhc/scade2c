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  <p:sldId id="277" r:id="rId23"/>
    <p:sldId id="281" r:id="rId24"/>
    <p:sldId id="280" r:id="rId25"/>
    <p:sldId id="278" r:id="rId26"/>
    <p:sldId id="284" r:id="rId27"/>
    <p:sldId id="279" r:id="rId28"/>
    <p:sldId id="282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7" autoAdjust="0"/>
    <p:restoredTop sz="94672"/>
  </p:normalViewPr>
  <p:slideViewPr>
    <p:cSldViewPr snapToGrid="0">
      <p:cViewPr varScale="1">
        <p:scale>
          <a:sx n="86" d="100"/>
          <a:sy n="86" d="100"/>
        </p:scale>
        <p:origin x="42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2023/11/20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2023/11/20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541A31-07F7-4610-85EC-258C25D40BB6}"/>
              </a:ext>
            </a:extLst>
          </p:cNvPr>
          <p:cNvSpPr txBox="1"/>
          <p:nvPr/>
        </p:nvSpPr>
        <p:spPr>
          <a:xfrm>
            <a:off x="390617" y="266330"/>
            <a:ext cx="2228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代码生成算法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38006C-EFC8-477A-8885-B67A358874E9}"/>
              </a:ext>
            </a:extLst>
          </p:cNvPr>
          <p:cNvSpPr txBox="1"/>
          <p:nvPr/>
        </p:nvSpPr>
        <p:spPr>
          <a:xfrm>
            <a:off x="292963" y="798990"/>
            <a:ext cx="10440140" cy="5078313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/>
              <a:t>Algorithm Code Generation</a:t>
            </a:r>
          </a:p>
          <a:p>
            <a:r>
              <a:rPr lang="en-US" altLang="zh-CN"/>
              <a:t>Input:grammerList,nodeId,nodeDict,cModel</a:t>
            </a:r>
          </a:p>
          <a:p>
            <a:r>
              <a:rPr lang="en-US" altLang="zh-CN"/>
              <a:t>Output:C Code</a:t>
            </a:r>
          </a:p>
          <a:p>
            <a:r>
              <a:rPr lang="en-US" altLang="zh-CN"/>
              <a:t>function codeGeneration(grammerList,nodeId,nodeDict,cModel)</a:t>
            </a:r>
          </a:p>
          <a:p>
            <a:r>
              <a:rPr lang="en-US" altLang="zh-CN"/>
              <a:t>	code = “”</a:t>
            </a:r>
          </a:p>
          <a:p>
            <a:r>
              <a:rPr lang="en-US" altLang="zh-CN"/>
              <a:t>	symbolTable = getSymbolTable(nodeId,nodeDict)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==“Const” do</a:t>
            </a:r>
          </a:p>
          <a:p>
            <a:r>
              <a:rPr lang="en-US" altLang="zh-CN"/>
              <a:t>		add_variable_const_def_code(code,elem,symbolTable,cModel)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               end for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==“Sensor” do</a:t>
            </a:r>
          </a:p>
          <a:p>
            <a:r>
              <a:rPr lang="en-US" altLang="zh-CN"/>
              <a:t>		add_variable_sensor_def_code(code,elem,symbolTable,cModel)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	end for</a:t>
            </a:r>
          </a:p>
          <a:p>
            <a:r>
              <a:rPr lang="en-US" altLang="zh-CN"/>
              <a:t>	add_node_def_code(code,nodeId,symbolTable,nodeDict,cModel)</a:t>
            </a:r>
          </a:p>
          <a:p>
            <a:r>
              <a:rPr lang="en-US" altLang="zh-CN"/>
              <a:t>end function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FF409D5-AFAE-4A0E-B7F3-D5BD3545A415}"/>
              </a:ext>
            </a:extLst>
          </p:cNvPr>
          <p:cNvCxnSpPr>
            <a:cxnSpLocks/>
          </p:cNvCxnSpPr>
          <p:nvPr/>
        </p:nvCxnSpPr>
        <p:spPr>
          <a:xfrm>
            <a:off x="292963" y="1136343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663690-7781-4717-9779-26038ED7B144}"/>
              </a:ext>
            </a:extLst>
          </p:cNvPr>
          <p:cNvCxnSpPr>
            <a:cxnSpLocks/>
          </p:cNvCxnSpPr>
          <p:nvPr/>
        </p:nvCxnSpPr>
        <p:spPr>
          <a:xfrm>
            <a:off x="292963" y="1679360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13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D99C5A-735E-4265-8670-576E51425CB8}"/>
              </a:ext>
            </a:extLst>
          </p:cNvPr>
          <p:cNvSpPr txBox="1"/>
          <p:nvPr/>
        </p:nvSpPr>
        <p:spPr>
          <a:xfrm>
            <a:off x="195308" y="248575"/>
            <a:ext cx="567283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Switch_expr </a:t>
            </a:r>
          </a:p>
          <a:p>
            <a:endParaRPr lang="en-US" altLang="zh-CN"/>
          </a:p>
          <a:p>
            <a:r>
              <a:rPr lang="en-US" altLang="zh-CN"/>
              <a:t>Switch_expr ::= if Expr then Expr else Expr </a:t>
            </a:r>
          </a:p>
          <a:p>
            <a:r>
              <a:rPr lang="en-US" altLang="zh-CN"/>
              <a:t>                    ::= </a:t>
            </a:r>
            <a:r>
              <a:rPr lang="en-US" altLang="zh-CN" b="1"/>
              <a:t>( case Expr of Switch_expr_1 )</a:t>
            </a:r>
          </a:p>
          <a:p>
            <a:endParaRPr lang="en-US" altLang="zh-CN"/>
          </a:p>
          <a:p>
            <a:r>
              <a:rPr lang="en-US" altLang="zh-CN" b="1"/>
              <a:t>Switch_expr_1 ::= Case_expr Switch_expr_2</a:t>
            </a:r>
            <a:br>
              <a:rPr lang="en-US" altLang="zh-CN" b="1"/>
            </a:br>
            <a:endParaRPr lang="en-US" altLang="zh-CN" b="1"/>
          </a:p>
          <a:p>
            <a:r>
              <a:rPr lang="en-US" altLang="zh-CN" b="1"/>
              <a:t>Switch_expr_2 ::= Case_expr Switch_expr_2</a:t>
            </a:r>
            <a:br>
              <a:rPr lang="en-US" altLang="zh-CN" b="1"/>
            </a:br>
            <a:r>
              <a:rPr lang="en-US" altLang="zh-CN" b="1"/>
              <a:t>               ::= $</a:t>
            </a:r>
          </a:p>
          <a:p>
            <a:endParaRPr lang="en-US" altLang="zh-CN" b="1"/>
          </a:p>
          <a:p>
            <a:r>
              <a:rPr lang="en-US" altLang="zh-CN" b="1"/>
              <a:t>Case_expr ::= | Pattern : Expr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 ::= Path_id</a:t>
            </a:r>
            <a:br>
              <a:rPr lang="en-US" altLang="zh-CN" b="1"/>
            </a:br>
            <a:r>
              <a:rPr lang="en-US" altLang="zh-CN" b="1"/>
              <a:t>         ::= character</a:t>
            </a:r>
            <a:br>
              <a:rPr lang="en-US" altLang="zh-CN" b="1"/>
            </a:br>
            <a:r>
              <a:rPr lang="en-US" altLang="zh-CN" b="1"/>
              <a:t>         ::= Pattern_1 integernum</a:t>
            </a:r>
            <a:br>
              <a:rPr lang="en-US" altLang="zh-CN" b="1"/>
            </a:br>
            <a:r>
              <a:rPr lang="en-US" altLang="zh-CN" b="1"/>
              <a:t>         ::= Pattern_1 typed_integer</a:t>
            </a:r>
            <a:br>
              <a:rPr lang="en-US" altLang="zh-CN" b="1"/>
            </a:br>
            <a:r>
              <a:rPr lang="en-US" altLang="zh-CN" b="1"/>
              <a:t>         ::= Bool_atom</a:t>
            </a:r>
            <a:br>
              <a:rPr lang="en-US" altLang="zh-CN" b="1"/>
            </a:br>
            <a:r>
              <a:rPr lang="en-US" altLang="zh-CN" b="1"/>
              <a:t>         ::= _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Pattern_1 ::= -</a:t>
            </a:r>
            <a:br>
              <a:rPr lang="en-US" altLang="zh-CN" b="1"/>
            </a:br>
            <a:r>
              <a:rPr lang="en-US" altLang="zh-CN" b="1"/>
              <a:t>   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6A5D5AB-5B77-4960-9BCB-829F8B265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353" y="248575"/>
            <a:ext cx="6350495" cy="607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541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737559-8144-46B8-93EC-F4E61B915A7E}"/>
              </a:ext>
            </a:extLst>
          </p:cNvPr>
          <p:cNvSpPr txBox="1"/>
          <p:nvPr/>
        </p:nvSpPr>
        <p:spPr>
          <a:xfrm>
            <a:off x="301841" y="381740"/>
            <a:ext cx="44565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Bool_expr ::= not Expr</a:t>
            </a:r>
            <a:br>
              <a:rPr lang="en-US" altLang="zh-CN"/>
            </a:br>
            <a:r>
              <a:rPr lang="en-US" altLang="zh-CN"/>
              <a:t>           ::= Expr Bin_bool_op Expr</a:t>
            </a:r>
            <a:br>
              <a:rPr lang="en-US" altLang="zh-CN"/>
            </a:br>
            <a:r>
              <a:rPr lang="en-US" altLang="zh-CN"/>
              <a:t>           ::= </a:t>
            </a:r>
            <a:r>
              <a:rPr lang="en-US" altLang="zh-CN">
                <a:solidFill>
                  <a:srgbClr val="FF0000"/>
                </a:solidFill>
              </a:rPr>
              <a:t># ( List )</a:t>
            </a:r>
          </a:p>
          <a:p>
            <a:r>
              <a:rPr lang="en-US" altLang="zh-CN"/>
              <a:t>Bin_bool_op ::= and</a:t>
            </a:r>
            <a:br>
              <a:rPr lang="en-US" altLang="zh-CN"/>
            </a:br>
            <a:r>
              <a:rPr lang="en-US" altLang="zh-CN"/>
              <a:t>             ::= or</a:t>
            </a:r>
            <a:br>
              <a:rPr lang="en-US" altLang="zh-CN"/>
            </a:br>
            <a:r>
              <a:rPr lang="en-US" altLang="zh-CN"/>
              <a:t>             ::= xor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DA4FFE-1F1A-4686-B364-259B58267F40}"/>
              </a:ext>
            </a:extLst>
          </p:cNvPr>
          <p:cNvSpPr txBox="1"/>
          <p:nvPr/>
        </p:nvSpPr>
        <p:spPr>
          <a:xfrm>
            <a:off x="301841" y="2551837"/>
            <a:ext cx="92238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例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function bool_expr(in1,in2,in3:bool;in4,in5,in6:int8) returns (out1,out2,out3:bool)</a:t>
            </a:r>
          </a:p>
          <a:p>
            <a:r>
              <a:rPr lang="en-US" altLang="zh-CN"/>
              <a:t>let</a:t>
            </a:r>
          </a:p>
          <a:p>
            <a:r>
              <a:rPr lang="en-US" altLang="zh-CN"/>
              <a:t>	out1=not in1;</a:t>
            </a:r>
          </a:p>
          <a:p>
            <a:r>
              <a:rPr lang="en-US" altLang="zh-CN"/>
              <a:t>	out2=in1 or in2;</a:t>
            </a:r>
          </a:p>
          <a:p>
            <a:r>
              <a:rPr lang="en-US" altLang="zh-CN"/>
              <a:t>	out3= #(in1,in2,in3);</a:t>
            </a:r>
          </a:p>
          <a:p>
            <a:r>
              <a:rPr lang="en-US" altLang="zh-CN"/>
              <a:t>tel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E6F3CF-A6BC-42D6-ADAA-6518EDDCE211}"/>
              </a:ext>
            </a:extLst>
          </p:cNvPr>
          <p:cNvSpPr txBox="1"/>
          <p:nvPr/>
        </p:nvSpPr>
        <p:spPr>
          <a:xfrm>
            <a:off x="514905" y="4725205"/>
            <a:ext cx="9783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转化后程序</a:t>
            </a:r>
            <a:endParaRPr lang="en-US" altLang="zh-CN" b="1"/>
          </a:p>
          <a:p>
            <a:r>
              <a:rPr lang="en-US" altLang="zh-CN"/>
              <a:t>void bool_expr(inC_bool_expr *inC, outC_bool_expr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outC-&gt;out3 = inC-&gt;in1 + inC-&gt;in2 + inC-&gt;in3 &lt;= 1;</a:t>
            </a:r>
          </a:p>
          <a:p>
            <a:r>
              <a:rPr lang="en-US" altLang="zh-CN"/>
              <a:t>  outC-&gt;out2 = inC-&gt;in1 | inC-&gt;in2;</a:t>
            </a:r>
          </a:p>
          <a:p>
            <a:r>
              <a:rPr lang="en-US" altLang="zh-CN"/>
              <a:t>  outC-&gt;out1 = !inC-&gt;in1;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EC63727-14DF-421F-83DF-A61F6B6F4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977474"/>
              </p:ext>
            </p:extLst>
          </p:nvPr>
        </p:nvGraphicFramePr>
        <p:xfrm>
          <a:off x="3762159" y="381740"/>
          <a:ext cx="812800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2404058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357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not Expr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!Expr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622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Expr1 Bin_bool_op Expr2</a:t>
                      </a:r>
                    </a:p>
                    <a:p>
                      <a:r>
                        <a:rPr lang="en-US" altLang="zh-CN"/>
                        <a:t>Bin_bool_op ::= and</a:t>
                      </a:r>
                    </a:p>
                    <a:p>
                      <a:r>
                        <a:rPr lang="en-US" altLang="zh-CN"/>
                        <a:t>                     ::= or</a:t>
                      </a:r>
                    </a:p>
                    <a:p>
                      <a:r>
                        <a:rPr lang="en-US" altLang="zh-CN"/>
                        <a:t>                     ::= xor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Expr1 &amp; Expr2</a:t>
                      </a:r>
                    </a:p>
                    <a:p>
                      <a:r>
                        <a:rPr lang="en-US" altLang="zh-CN"/>
                        <a:t>Bool_expr =Expr1 | Expr2</a:t>
                      </a:r>
                    </a:p>
                    <a:p>
                      <a:r>
                        <a:rPr lang="en-US" altLang="zh-CN"/>
                        <a:t>Bool_expr =Expr1 ^ Expr2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257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#(List)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list1 + list2 + list3 &lt;=1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69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9142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4283695-8E42-4B77-9A35-2B607CF9F2C8}"/>
              </a:ext>
            </a:extLst>
          </p:cNvPr>
          <p:cNvSpPr txBox="1"/>
          <p:nvPr/>
        </p:nvSpPr>
        <p:spPr>
          <a:xfrm>
            <a:off x="239698" y="239697"/>
            <a:ext cx="3018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List_expr ::= ( List )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 ::= List_1</a:t>
            </a:r>
            <a:br>
              <a:rPr lang="en-US" altLang="zh-CN"/>
            </a:br>
            <a:r>
              <a:rPr lang="en-US" altLang="zh-CN"/>
              <a:t>      ::= $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List_1 ::= Expr List_2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List_2 ::= , Expr List_2</a:t>
            </a:r>
            <a:br>
              <a:rPr lang="en-US" altLang="zh-CN"/>
            </a:br>
            <a:r>
              <a:rPr lang="en-US" altLang="zh-CN"/>
              <a:t>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B2F2369-DAF1-482A-B17D-5CE0D7A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946" y="239697"/>
            <a:ext cx="6797629" cy="431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55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E5F6958-CD0E-4E05-AE3D-0AF48C6BD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41" y="1889924"/>
            <a:ext cx="3897296" cy="46472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6A0416E-7053-4823-85F4-F9576CE4C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05" y="1675818"/>
            <a:ext cx="5135211" cy="50754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8A1714-EEA3-441F-B546-1D25285CF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90" y="0"/>
            <a:ext cx="6866215" cy="188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785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B98ECB6-C4E1-4214-A89F-56CA2E1117AC}"/>
              </a:ext>
            </a:extLst>
          </p:cNvPr>
          <p:cNvSpPr txBox="1"/>
          <p:nvPr/>
        </p:nvSpPr>
        <p:spPr>
          <a:xfrm>
            <a:off x="106531" y="346638"/>
            <a:ext cx="627651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Clocked_block ::= activate Id_zero_or_one If_block</a:t>
            </a:r>
            <a:br>
              <a:rPr lang="en-US" altLang="zh-CN"/>
            </a:br>
            <a:r>
              <a:rPr lang="en-US" altLang="zh-CN"/>
              <a:t>               ::= activate Id_zero_or_one Match_block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 b="1"/>
              <a:t>If_block ::= if</a:t>
            </a:r>
            <a:r>
              <a:rPr lang="en-US" altLang="zh-CN" b="1">
                <a:solidFill>
                  <a:srgbClr val="FF0000"/>
                </a:solidFill>
              </a:rPr>
              <a:t> Expr </a:t>
            </a:r>
            <a:r>
              <a:rPr lang="en-US" altLang="zh-CN" b="1"/>
              <a:t>then </a:t>
            </a:r>
            <a:r>
              <a:rPr lang="en-US" altLang="zh-CN" b="1">
                <a:solidFill>
                  <a:srgbClr val="FF0000"/>
                </a:solidFill>
              </a:rPr>
              <a:t>If_block_1 </a:t>
            </a:r>
            <a:r>
              <a:rPr lang="en-US" altLang="zh-CN" b="1"/>
              <a:t>else </a:t>
            </a:r>
            <a:r>
              <a:rPr lang="en-US" altLang="zh-CN" b="1">
                <a:solidFill>
                  <a:srgbClr val="FF0000"/>
                </a:solidFill>
              </a:rPr>
              <a:t>If_block_1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If_block_1 ::= Data_def</a:t>
            </a:r>
            <a:br>
              <a:rPr lang="en-US" altLang="zh-CN" b="1"/>
            </a:br>
            <a:r>
              <a:rPr lang="en-US" altLang="zh-CN" b="1"/>
              <a:t>            ::= If_block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 ::= when </a:t>
            </a:r>
            <a:r>
              <a:rPr lang="en-US" altLang="zh-CN" b="1"/>
              <a:t>Expr</a:t>
            </a:r>
            <a:r>
              <a:rPr lang="en-US" altLang="zh-CN"/>
              <a:t> match Match_block_1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Match_block_1 ::= | Pattern : Data_def Match_block_2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Match_block_2 ::= | Pattern : Data_def Match_block_2</a:t>
            </a:r>
            <a:br>
              <a:rPr lang="en-US" altLang="zh-CN"/>
            </a:br>
            <a:r>
              <a:rPr lang="en-US" altLang="zh-CN"/>
              <a:t>              ::= $</a:t>
            </a:r>
          </a:p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37D8CBB-E5BC-49C7-9C67-2E946B6A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23" y="4649561"/>
            <a:ext cx="5321618" cy="14582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414A8AF-0C97-4163-AFB8-6A15E3D06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934" y="951948"/>
            <a:ext cx="5975639" cy="143018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A3703F9-C18C-44BF-A8FA-2B69752C0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852" y="2721070"/>
            <a:ext cx="6016721" cy="374576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BF76EB8-026F-4510-8012-1244713BFC76}"/>
              </a:ext>
            </a:extLst>
          </p:cNvPr>
          <p:cNvSpPr txBox="1"/>
          <p:nvPr/>
        </p:nvSpPr>
        <p:spPr>
          <a:xfrm>
            <a:off x="106531" y="7989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文法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397947-2890-4A97-B41B-2B9B7CA2581C}"/>
              </a:ext>
            </a:extLst>
          </p:cNvPr>
          <p:cNvSpPr txBox="1"/>
          <p:nvPr/>
        </p:nvSpPr>
        <p:spPr>
          <a:xfrm>
            <a:off x="219123" y="427903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C90992-2446-4F50-B188-6E0447159C31}"/>
              </a:ext>
            </a:extLst>
          </p:cNvPr>
          <p:cNvSpPr txBox="1"/>
          <p:nvPr/>
        </p:nvSpPr>
        <p:spPr>
          <a:xfrm>
            <a:off x="5795934" y="449247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850940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5991437-D9A9-4826-815A-624F2451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87" y="428336"/>
            <a:ext cx="4197914" cy="2617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945B90D-1525-4DC1-AC6B-A5D449FD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87" y="820811"/>
            <a:ext cx="6235562" cy="22774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3087A95-3BEE-4981-B8A7-6B103C34D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086" y="297577"/>
            <a:ext cx="5174428" cy="57825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AE7753A-7A4A-4331-8CC9-F4B640F9B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648" y="3379495"/>
            <a:ext cx="3796107" cy="318092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6E23527-0701-4497-B88C-451987BF1C0D}"/>
              </a:ext>
            </a:extLst>
          </p:cNvPr>
          <p:cNvSpPr txBox="1"/>
          <p:nvPr/>
        </p:nvSpPr>
        <p:spPr>
          <a:xfrm>
            <a:off x="677662" y="2972254"/>
            <a:ext cx="2752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08443-9B7D-4DED-B8AA-CAAE01BB4610}"/>
              </a:ext>
            </a:extLst>
          </p:cNvPr>
          <p:cNvSpPr txBox="1"/>
          <p:nvPr/>
        </p:nvSpPr>
        <p:spPr>
          <a:xfrm>
            <a:off x="182487" y="112911"/>
            <a:ext cx="259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1280610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3023</TotalTime>
  <Words>1221</Words>
  <Application>Microsoft Office PowerPoint</Application>
  <PresentationFormat>宽屏</PresentationFormat>
  <Paragraphs>129</Paragraphs>
  <Slides>28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2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Savior</cp:lastModifiedBy>
  <cp:revision>54</cp:revision>
  <dcterms:created xsi:type="dcterms:W3CDTF">2023-07-31T07:47:37Z</dcterms:created>
  <dcterms:modified xsi:type="dcterms:W3CDTF">2023-11-20T07:07:37Z</dcterms:modified>
</cp:coreProperties>
</file>