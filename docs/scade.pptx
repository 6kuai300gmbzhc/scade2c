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56" r:id="rId2"/>
    <p:sldId id="269" r:id="rId3"/>
    <p:sldId id="275" r:id="rId4"/>
    <p:sldId id="259" r:id="rId5"/>
    <p:sldId id="266" r:id="rId6"/>
    <p:sldId id="260" r:id="rId7"/>
    <p:sldId id="267" r:id="rId8"/>
    <p:sldId id="276" r:id="rId9"/>
    <p:sldId id="261" r:id="rId10"/>
    <p:sldId id="268" r:id="rId11"/>
    <p:sldId id="262" r:id="rId12"/>
    <p:sldId id="263" r:id="rId13"/>
    <p:sldId id="264" r:id="rId14"/>
    <p:sldId id="265" r:id="rId15"/>
    <p:sldId id="257" r:id="rId16"/>
    <p:sldId id="258" r:id="rId17"/>
    <p:sldId id="274" r:id="rId18"/>
    <p:sldId id="270" r:id="rId19"/>
    <p:sldId id="271" r:id="rId20"/>
    <p:sldId id="273" r:id="rId21"/>
    <p:sldId id="272" r:id="rId22"/>
    <p:sldId id="277" r:id="rId23"/>
    <p:sldId id="281" r:id="rId24"/>
    <p:sldId id="280" r:id="rId25"/>
    <p:sldId id="278" r:id="rId26"/>
    <p:sldId id="284" r:id="rId27"/>
    <p:sldId id="279" r:id="rId28"/>
    <p:sldId id="282" r:id="rId2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中度样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7" autoAdjust="0"/>
    <p:restoredTop sz="94672"/>
  </p:normalViewPr>
  <p:slideViewPr>
    <p:cSldViewPr snapToGrid="0">
      <p:cViewPr varScale="1">
        <p:scale>
          <a:sx n="86" d="100"/>
          <a:sy n="86" d="100"/>
        </p:scale>
        <p:origin x="4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44C8BF-56B8-46D4-ADA5-A0AF811348DF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DDA1C1-A742-400D-836A-F7BD60EEB8F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85840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DDA1C1-A742-400D-836A-F7BD60EEB8F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57998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4E639D-897C-49A9-BA85-11F03D2CA7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C149891-3015-4CEC-9CA8-7318F70175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B59F1FE-36B1-4EA0-A02E-A53AA7345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5A57A51-4948-4F84-9A63-A4EDCCF51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6B9B6C-3999-4490-8646-E3B8784DD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9454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8BEFB6-97BD-4105-8C62-5750D487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86BF36-AE40-4C2A-8536-A16D8BAF0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29B5493-CA35-4182-9002-14E7A4B45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05EB27-B26C-4301-80C7-F4351F302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51D86A-D667-49DB-9A60-33BDDD857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0496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ABFDE9E-6BA3-4F13-8759-E0E5CC2C5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23E9E8A-E2D6-41AD-837A-56A2BC511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1DD550-C18A-4BFF-AACA-AEF5B08893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24C277F-4618-4220-8337-03E81BC32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C6D3B7B-BE35-4254-8BD3-D79B78E8C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4647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3AC13F5-8412-4376-AD89-3DFAA7748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D5F410-0E33-4AE8-8F50-067637838F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B0CE64-5E62-449A-A53A-BB15DC107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DD306A-FCBA-41B9-B3A9-AC77797BC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2761E48-F951-4603-BFE2-2336F2820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9E4DDF5-2E3E-41D5-9039-C4FA9CA94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12751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B5BFB-D8B0-454F-9745-C730598B9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69D3653-5584-405F-85DC-4C34CE1D4A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8A29EBF-A6C9-4051-A4E8-663A6B4A9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319BDE7-1E0A-4434-9D0F-0537A0156B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6C7F308-33CB-4339-A5FD-08121274CB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9EE4B92B-DC1A-4FD0-87D3-0249E4782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77D71ED-F08D-44B9-BD67-A0A0B309C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CAEB62B-5459-43BA-8BFD-632E06959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7931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901BB2C-704C-4792-B4ED-02B1417C9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3184A688-5BB7-409B-8B2E-07D544CC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C101EDB-9FBA-479E-BFAB-C05DEFC01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7739EAE-CF12-40A1-8B6C-F4700728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397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6654E53-5CD1-414B-A36E-3B2BC1CBE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60412F8-ED7B-4857-A682-EF6EE97F4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3439BD-52AE-458D-9E59-4E6B1138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281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12D13-D84F-4AD2-B875-0E58F83E12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F0B1DF-FE1D-4100-9DDA-A2E7A3A3E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7E66792-E950-4F2A-A850-C636EDCF4E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6D3ACB5-8197-4E23-8C88-73BED8A22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7115A37-5934-4E84-B07E-7EF21A4DA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DB16A55-1D0A-4711-BC05-D1E8F74F5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02047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80A608-52AF-4356-87F2-32790BE1E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4CD3C87-2664-4EA7-8126-0420F5E7A2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E464854-085D-49E4-BA50-4BAF1840B0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E8704FE-2660-4797-B99B-AB9A4A742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C5802BC-7971-43FB-B643-8C8783404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28A889-B57A-46E0-8EAC-B5AEB68E1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258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CA7EE2-0F88-4A05-ADE1-276E14EF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9C93E38-4D23-426B-B723-08CEEA95F4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F493B1-B849-46F1-9F52-71DB79789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6FF556-6466-45F3-BBF2-D95D8B02D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1377B6B-13E4-433B-879E-DED119D0F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29661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238D81E2-8DBC-43C6-9146-0097D2976E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FCD4A4-5B70-4615-BA3B-87AD9F3E8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0615821-AF1B-45D8-A875-7B9FC9F64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1D74A4-027F-4A2B-8B92-D0C194C5091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5E5F7C-961B-4996-9105-A111AE32D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A0EB6B-64FC-4742-9238-679646063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0609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2D32508-D1BD-46E9-9FAF-BAD8E4DC5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8E75750-62C5-4A7B-B04F-0F3BB88A4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32D1CE-B8AE-4ED9-8AB0-332548A4AB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1D74A4-027F-4A2B-8B92-D0C194C50910}" type="datetimeFigureOut">
              <a:rPr lang="zh-CN" altLang="en-US" smtClean="0"/>
              <a:t>2023/11/6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164D46-BB17-4FA3-94A6-B259470F72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71A282-0440-4A79-AC44-F6E588B1B1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3BC391-B90E-4936-AC19-98B87C3831A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25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8001D07-534A-4DBC-8CC5-8EB3A320EC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5746114"/>
              </p:ext>
            </p:extLst>
          </p:nvPr>
        </p:nvGraphicFramePr>
        <p:xfrm>
          <a:off x="4049486" y="122506"/>
          <a:ext cx="7940352" cy="437485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970176">
                  <a:extLst>
                    <a:ext uri="{9D8B030D-6E8A-4147-A177-3AD203B41FA5}">
                      <a16:colId xmlns:a16="http://schemas.microsoft.com/office/drawing/2014/main" val="917459923"/>
                    </a:ext>
                  </a:extLst>
                </a:gridCol>
                <a:gridCol w="3970176">
                  <a:extLst>
                    <a:ext uri="{9D8B030D-6E8A-4147-A177-3AD203B41FA5}">
                      <a16:colId xmlns:a16="http://schemas.microsoft.com/office/drawing/2014/main" val="1415428109"/>
                    </a:ext>
                  </a:extLst>
                </a:gridCol>
              </a:tblGrid>
              <a:tr h="729142">
                <a:tc>
                  <a:txBody>
                    <a:bodyPr/>
                    <a:lstStyle/>
                    <a:p>
                      <a:r>
                        <a:rPr lang="en-US" altLang="zh-CN" err="1"/>
                        <a:t>Scade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/>
                        <a:t>对应的</a:t>
                      </a:r>
                      <a:r>
                        <a:rPr lang="en-US" altLang="zh-CN"/>
                        <a:t>C</a:t>
                      </a:r>
                      <a:r>
                        <a:rPr lang="zh-CN" altLang="en-US"/>
                        <a:t>程序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354870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e : bool = true;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kcg_true</a:t>
                      </a:r>
                      <a:endParaRPr lang="en-US" altLang="zh-CN" sz="1800" b="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099424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d : int32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d (kcg_lit_int32(0))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8987663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imported c : int32;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kcg_int32 c;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1784448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type imported t is integer;</a:t>
                      </a:r>
                    </a:p>
                    <a:p>
                      <a:r>
                        <a:rPr lang="en-US" altLang="zh-CN"/>
                        <a:t>const </a:t>
                      </a:r>
                      <a:r>
                        <a:rPr lang="en-US" altLang="zh-CN" err="1"/>
                        <a:t>tt</a:t>
                      </a:r>
                      <a:r>
                        <a:rPr lang="en-US" altLang="zh-CN"/>
                        <a:t> : t = 0;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#define 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altLang="zh-CN" sz="1800" b="0" kern="120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kcg_lit_t</a:t>
                      </a: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(0))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9723759"/>
                  </a:ext>
                </a:extLst>
              </a:tr>
              <a:tr h="729142">
                <a:tc>
                  <a:txBody>
                    <a:bodyPr/>
                    <a:lstStyle/>
                    <a:p>
                      <a:r>
                        <a:rPr lang="en-US" altLang="zh-CN"/>
                        <a:t>const private imported f : int8;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1800" b="0" kern="120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extern const kcg_int8 f;</a:t>
                      </a:r>
                    </a:p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65212491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53664EC8-BD38-45F3-AB08-ED5D30D3C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642" y="4497358"/>
            <a:ext cx="3198466" cy="21355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CEC228-DB71-4378-9A23-727B1BB792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162" y="279917"/>
            <a:ext cx="3730758" cy="5924939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8CFF5B49-5C9F-E72A-A0F9-4C56DF4D8E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0558" y="6061248"/>
            <a:ext cx="5475354" cy="796752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0681D1BE-7ADF-456F-AD2E-75D15C6B69E7}"/>
              </a:ext>
            </a:extLst>
          </p:cNvPr>
          <p:cNvSpPr txBox="1"/>
          <p:nvPr/>
        </p:nvSpPr>
        <p:spPr>
          <a:xfrm>
            <a:off x="4315326" y="4764505"/>
            <a:ext cx="3943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含有</a:t>
            </a:r>
            <a:r>
              <a:rPr lang="en-US" altLang="zh-CN"/>
              <a:t>imported</a:t>
            </a:r>
            <a:r>
              <a:rPr lang="zh-CN" altLang="en-US"/>
              <a:t>的都是外部导入，不需要初始化，其余的都要初始化。</a:t>
            </a:r>
          </a:p>
        </p:txBody>
      </p:sp>
    </p:spTree>
    <p:extLst>
      <p:ext uri="{BB962C8B-B14F-4D97-AF65-F5344CB8AC3E}">
        <p14:creationId xmlns:p14="http://schemas.microsoft.com/office/powerpoint/2010/main" val="20896209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C33EEA2-21E9-4505-A954-1C216BE3CA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221" y="383137"/>
            <a:ext cx="7328674" cy="53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502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DA28287-0CA3-4469-AE3F-91EA1434E666}"/>
              </a:ext>
            </a:extLst>
          </p:cNvPr>
          <p:cNvSpPr txBox="1"/>
          <p:nvPr/>
        </p:nvSpPr>
        <p:spPr>
          <a:xfrm>
            <a:off x="417250" y="470517"/>
            <a:ext cx="5678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init</a:t>
            </a:r>
            <a:r>
              <a:rPr lang="zh-CN" altLang="en-US"/>
              <a:t>操作符</a:t>
            </a:r>
            <a:r>
              <a:rPr lang="en-US" altLang="zh-CN"/>
              <a:t>-&gt;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310550E-0FB4-4DF9-846C-07CF64385894}"/>
              </a:ext>
            </a:extLst>
          </p:cNvPr>
          <p:cNvSpPr txBox="1"/>
          <p:nvPr/>
        </p:nvSpPr>
        <p:spPr>
          <a:xfrm>
            <a:off x="266331" y="994299"/>
            <a:ext cx="4030462" cy="14734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C2213817-CEAD-44E2-9BF2-3D8C18E10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679" y="920768"/>
            <a:ext cx="4656223" cy="1546994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BCF366D4-D354-4548-8E29-C3842F96427C}"/>
              </a:ext>
            </a:extLst>
          </p:cNvPr>
          <p:cNvSpPr txBox="1"/>
          <p:nvPr/>
        </p:nvSpPr>
        <p:spPr>
          <a:xfrm>
            <a:off x="665825" y="2716567"/>
            <a:ext cx="939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在第一周期，</a:t>
            </a:r>
            <a:r>
              <a:rPr lang="en-US" altLang="zh-CN"/>
              <a:t>F</a:t>
            </a:r>
            <a:r>
              <a:rPr lang="zh-CN" altLang="en-US"/>
              <a:t>的输出由输入</a:t>
            </a:r>
            <a:r>
              <a:rPr lang="en-US" altLang="zh-CN"/>
              <a:t>i</a:t>
            </a:r>
            <a:r>
              <a:rPr lang="zh-CN" altLang="en-US"/>
              <a:t>提供。从第二周期开始，操作符变为</a:t>
            </a:r>
            <a:r>
              <a:rPr lang="en-US" altLang="zh-CN"/>
              <a:t>F=f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25841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CA924E91-1974-4D1B-AC82-F3145E8236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623" y="451230"/>
            <a:ext cx="4763638" cy="1620166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15BCA35D-79E5-481E-9BCF-804F9122932B}"/>
              </a:ext>
            </a:extLst>
          </p:cNvPr>
          <p:cNvSpPr txBox="1"/>
          <p:nvPr/>
        </p:nvSpPr>
        <p:spPr>
          <a:xfrm>
            <a:off x="354563" y="2407298"/>
            <a:ext cx="3079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</a:t>
            </a:r>
            <a:r>
              <a:rPr lang="zh-CN" altLang="en-US"/>
              <a:t>程序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78624E08-959C-488E-90C7-F10E762EF3B3}"/>
              </a:ext>
            </a:extLst>
          </p:cNvPr>
          <p:cNvSpPr txBox="1"/>
          <p:nvPr/>
        </p:nvSpPr>
        <p:spPr>
          <a:xfrm>
            <a:off x="253637" y="190239"/>
            <a:ext cx="22673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fby</a:t>
            </a:r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5243F77F-94D5-4490-B8CB-CF4E366F5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61" y="3143190"/>
            <a:ext cx="5817408" cy="264040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CA6A65F-830A-4339-B48E-4CD7CF9354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1273" y="790486"/>
            <a:ext cx="5105842" cy="784928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FEBA729A-A044-4E15-87F5-7EC28AF45C76}"/>
              </a:ext>
            </a:extLst>
          </p:cNvPr>
          <p:cNvSpPr txBox="1"/>
          <p:nvPr/>
        </p:nvSpPr>
        <p:spPr>
          <a:xfrm>
            <a:off x="5851273" y="1793289"/>
            <a:ext cx="48995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为延迟若干的周期输入提供一个默认值，延迟的周期值必须是正整数。</a:t>
            </a:r>
          </a:p>
        </p:txBody>
      </p:sp>
    </p:spTree>
    <p:extLst>
      <p:ext uri="{BB962C8B-B14F-4D97-AF65-F5344CB8AC3E}">
        <p14:creationId xmlns:p14="http://schemas.microsoft.com/office/powerpoint/2010/main" val="3328114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60AB899-7C04-4FD2-8492-4A8C395037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87" y="46653"/>
            <a:ext cx="5235746" cy="327992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38BA2E-1D29-4AAE-81D1-155805573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4082" y="84915"/>
            <a:ext cx="4366638" cy="345978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79149CF-A550-4F2E-A5D5-8FD6EE2561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1734" y="3040346"/>
            <a:ext cx="3406435" cy="3985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89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201A004D-CB92-4EE5-B9E7-9A4466B5F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9" y="483180"/>
            <a:ext cx="5029636" cy="156223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70C3900-75FC-4D3E-806E-E68CD198D5CC}"/>
              </a:ext>
            </a:extLst>
          </p:cNvPr>
          <p:cNvSpPr txBox="1"/>
          <p:nvPr/>
        </p:nvSpPr>
        <p:spPr>
          <a:xfrm>
            <a:off x="270588" y="195943"/>
            <a:ext cx="2453951" cy="382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 </a:t>
            </a:r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E0C087A-5130-48F8-AA18-A294A8D8468B}"/>
              </a:ext>
            </a:extLst>
          </p:cNvPr>
          <p:cNvSpPr txBox="1"/>
          <p:nvPr/>
        </p:nvSpPr>
        <p:spPr>
          <a:xfrm>
            <a:off x="5477522" y="328474"/>
            <a:ext cx="57882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Pre</a:t>
            </a:r>
            <a:r>
              <a:rPr lang="zh-CN" altLang="en-US"/>
              <a:t>作用是输出前一周期输入的值</a:t>
            </a:r>
          </a:p>
        </p:txBody>
      </p:sp>
    </p:spTree>
    <p:extLst>
      <p:ext uri="{BB962C8B-B14F-4D97-AF65-F5344CB8AC3E}">
        <p14:creationId xmlns:p14="http://schemas.microsoft.com/office/powerpoint/2010/main" val="5357514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2AD4F9-06F7-4A23-B398-F680AF685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390" y="329255"/>
            <a:ext cx="4702559" cy="633624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D3B7480-4DF3-4DA5-8086-13CE6645D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0589" y="146227"/>
            <a:ext cx="5020209" cy="6565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9027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04345807-13C6-4BC4-B91D-280049F4C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531" y="200525"/>
            <a:ext cx="4987146" cy="6288505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CD88478-3D6C-4077-84A6-6D803F0F5B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372977"/>
            <a:ext cx="4711485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4076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689FC1C-D87D-4689-AE37-E48C61D49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79" y="273019"/>
            <a:ext cx="4488569" cy="131075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D69C2AF-66DF-4FF7-A09D-D079402A313E}"/>
              </a:ext>
            </a:extLst>
          </p:cNvPr>
          <p:cNvSpPr txBox="1"/>
          <p:nvPr/>
        </p:nvSpPr>
        <p:spPr>
          <a:xfrm>
            <a:off x="130629" y="130629"/>
            <a:ext cx="14462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times</a:t>
            </a:r>
            <a:endParaRPr lang="zh-CN" altLang="en-US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0551829-9E65-4F3D-8A24-AF90A43D5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79" y="1940767"/>
            <a:ext cx="6992785" cy="2976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1079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42FC0EB-7890-4F87-8FEC-262A37139D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809" y="260338"/>
            <a:ext cx="6538527" cy="3276884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6EC9F0D5-F754-47F8-92B5-709B043325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301" y="1270820"/>
            <a:ext cx="6073666" cy="5326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95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509F50C0-73BE-4778-94E5-BE7191AE3A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713" y="497560"/>
            <a:ext cx="8861344" cy="36732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510CFCDF-D4BF-4CF2-93AA-3D4B75DE9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136" y="4336536"/>
            <a:ext cx="10143099" cy="2309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273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F923AEB7-25D5-4A2A-9BCD-6581A488A2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91" y="270588"/>
            <a:ext cx="5417039" cy="614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66941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9EC8BF8-1703-4AB3-B5EE-8EBAC9BF50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95" y="563053"/>
            <a:ext cx="5027833" cy="541465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BFACC51-F388-4A0A-8D91-0DF76EA1A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39" y="132190"/>
            <a:ext cx="4694327" cy="6439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9494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611ABE26-711E-40FE-AA87-9995F7ECB3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004" y="223524"/>
            <a:ext cx="1562235" cy="495343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00DE3585-0865-47A2-A442-B24DD009E3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7961" y="919064"/>
            <a:ext cx="5075360" cy="1280271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F26B6EB-ECC1-4099-BBC2-F9186EAF03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961" y="2399532"/>
            <a:ext cx="4298052" cy="121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5345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4BBA05C8-9C7A-43DF-9507-9E1E7563848A}"/>
              </a:ext>
            </a:extLst>
          </p:cNvPr>
          <p:cNvSpPr txBox="1"/>
          <p:nvPr/>
        </p:nvSpPr>
        <p:spPr>
          <a:xfrm>
            <a:off x="6220408" y="130628"/>
            <a:ext cx="5971592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FF0000"/>
                </a:solidFill>
              </a:rPr>
              <a:t>sensor temp : float32;</a:t>
            </a:r>
          </a:p>
          <a:p>
            <a:endParaRPr lang="en-US" altLang="zh-CN"/>
          </a:p>
          <a:p>
            <a:r>
              <a:rPr lang="en-US" altLang="zh-CN"/>
              <a:t>const zero : float32 = 0.0;</a:t>
            </a:r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/* xscade source: D:/scade_pro/example_const/Operator11.xscade */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node gradient() returns (diff : float32)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var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 : float32;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let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diff= _L1;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_L1= (_L7) #1 -&gt; (_L5);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_L2= temp;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_L3= #1 pre (_L2);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_L5= _L2 #1 - _L3;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  _L7= zero;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tel</a:t>
            </a:r>
            <a:endParaRPr lang="zh-CN" altLang="en-US" b="1">
              <a:solidFill>
                <a:srgbClr val="FF0000"/>
              </a:solidFill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42D7B8F-679B-4ACE-BAFF-636144F293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58" y="345805"/>
            <a:ext cx="4221846" cy="112785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4699F2B-D1A5-4EAF-A897-C5290F1D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22" y="1995816"/>
            <a:ext cx="5662151" cy="182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636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EED49A9D-9A14-4B06-98C1-70B8156A8EA7}"/>
              </a:ext>
            </a:extLst>
          </p:cNvPr>
          <p:cNvSpPr txBox="1"/>
          <p:nvPr/>
        </p:nvSpPr>
        <p:spPr>
          <a:xfrm>
            <a:off x="130629" y="214604"/>
            <a:ext cx="33030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extern kcg_float32 temp;</a:t>
            </a:r>
          </a:p>
          <a:p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02C9F65-D76A-44CC-9509-F9259A6904E7}"/>
              </a:ext>
            </a:extLst>
          </p:cNvPr>
          <p:cNvSpPr txBox="1"/>
          <p:nvPr/>
        </p:nvSpPr>
        <p:spPr>
          <a:xfrm>
            <a:off x="130629" y="860935"/>
            <a:ext cx="559836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void gradient(outC_gradient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/* _L1= */</a:t>
            </a:r>
          </a:p>
          <a:p>
            <a:r>
              <a:rPr lang="en-US" altLang="zh-CN"/>
              <a:t>  if (outC-&gt;init) {</a:t>
            </a:r>
          </a:p>
          <a:p>
            <a:r>
              <a:rPr lang="en-US" altLang="zh-CN"/>
              <a:t>    outC-&gt;init = kcg_false;</a:t>
            </a:r>
          </a:p>
          <a:p>
            <a:r>
              <a:rPr lang="en-US" altLang="zh-CN"/>
              <a:t>    outC-&gt;diff = zero;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else {</a:t>
            </a:r>
          </a:p>
          <a:p>
            <a:r>
              <a:rPr lang="en-US" altLang="zh-CN"/>
              <a:t>    outC-&gt;diff = temp - outC-&gt;_L2;</a:t>
            </a:r>
          </a:p>
          <a:p>
            <a:r>
              <a:rPr lang="en-US" altLang="zh-CN"/>
              <a:t>  }</a:t>
            </a:r>
          </a:p>
          <a:p>
            <a:r>
              <a:rPr lang="en-US" altLang="zh-CN"/>
              <a:t>  outC-&gt;_L2 = temp;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0C8EAF5-0143-40A6-B251-9A3E3D26FB65}"/>
              </a:ext>
            </a:extLst>
          </p:cNvPr>
          <p:cNvSpPr txBox="1"/>
          <p:nvPr/>
        </p:nvSpPr>
        <p:spPr>
          <a:xfrm>
            <a:off x="4907902" y="860935"/>
            <a:ext cx="6606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typedef struct {</a:t>
            </a:r>
          </a:p>
          <a:p>
            <a:r>
              <a:rPr lang="en-US" altLang="zh-CN"/>
              <a:t>    kcg_float32 /* _L1/, diff/ */ diff;</a:t>
            </a:r>
          </a:p>
          <a:p>
            <a:r>
              <a:rPr lang="en-US" altLang="zh-CN"/>
              <a:t>  kcg_bool init;</a:t>
            </a:r>
          </a:p>
          <a:p>
            <a:r>
              <a:rPr lang="en-US" altLang="zh-CN"/>
              <a:t>  kcg_float32 /* _L2/ */ _L2;</a:t>
            </a:r>
          </a:p>
          <a:p>
            <a:r>
              <a:rPr lang="en-US" altLang="zh-CN"/>
              <a:t>} outC_gradient;</a:t>
            </a:r>
          </a:p>
          <a:p>
            <a:r>
              <a:rPr lang="en-US" altLang="zh-CN"/>
              <a:t>extern void gradient(outC_gradient *outC);</a:t>
            </a:r>
          </a:p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96684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B21B92-F465-4FAA-9817-7A1D5DD58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32" y="490413"/>
            <a:ext cx="5011852" cy="266116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A39D49F8-1698-451E-858E-FBF612B80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1958" y="879496"/>
            <a:ext cx="4801016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9443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D301C140-BDBE-4148-A48E-5F74C4514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32" y="956145"/>
            <a:ext cx="1600339" cy="373412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F9BBC734-04D3-4583-8C23-23058072C6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1862" y="788490"/>
            <a:ext cx="3383573" cy="54106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40EE023-2C81-4585-B497-1E86D33C9CFA}"/>
              </a:ext>
            </a:extLst>
          </p:cNvPr>
          <p:cNvSpPr txBox="1"/>
          <p:nvPr/>
        </p:nvSpPr>
        <p:spPr>
          <a:xfrm>
            <a:off x="298580" y="233265"/>
            <a:ext cx="6503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要查看一个变量的</a:t>
            </a:r>
            <a:r>
              <a:rPr lang="en-US" altLang="zh-CN"/>
              <a:t>Properties</a:t>
            </a:r>
            <a:r>
              <a:rPr lang="zh-CN" altLang="en-US"/>
              <a:t>，需将其设置为</a:t>
            </a:r>
            <a:r>
              <a:rPr lang="en-US" altLang="zh-CN"/>
              <a:t>standard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2BDD19EF-4BEB-413E-8891-06BC3215A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619" y="1329557"/>
            <a:ext cx="4778849" cy="540273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29EF1F7-7E3E-4EC0-9047-16D8D75373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512" y="2307565"/>
            <a:ext cx="5880699" cy="4424728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E117F73F-6348-4FCA-9575-91ABCF938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9645" y="417931"/>
            <a:ext cx="3688400" cy="525826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ACE1CA47-480D-4520-80CB-5799CD38B8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236" y="1515450"/>
            <a:ext cx="4580017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4821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35E14CEE-25F3-44BA-84E9-907D73976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006" y="167393"/>
            <a:ext cx="4054191" cy="327688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8723F6-77C9-462D-AA3E-E12B8C8632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2" y="753664"/>
            <a:ext cx="5669771" cy="576121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619A6E3-078C-4664-85E0-A23BA65D44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9366" y="875876"/>
            <a:ext cx="4206605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89673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51296BE-53E7-4331-8EA2-8D1B249939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44" y="118493"/>
            <a:ext cx="2842506" cy="548688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A79DC77-505D-4AB4-AF30-C401A603D8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206" y="878888"/>
            <a:ext cx="3179377" cy="5689747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9B48BCA-9321-46FD-A006-857DF9DF3F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2625" y="855526"/>
            <a:ext cx="2872102" cy="514694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D385EB79-1701-48AD-BE64-119771FDB137}"/>
              </a:ext>
            </a:extLst>
          </p:cNvPr>
          <p:cNvSpPr txBox="1"/>
          <p:nvPr/>
        </p:nvSpPr>
        <p:spPr>
          <a:xfrm>
            <a:off x="7205769" y="855526"/>
            <a:ext cx="404821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Node</a:t>
            </a:r>
            <a:r>
              <a:rPr lang="zh-CN" altLang="en-US" b="1"/>
              <a:t>和</a:t>
            </a:r>
            <a:r>
              <a:rPr lang="en-US" altLang="zh-CN" b="1"/>
              <a:t>function</a:t>
            </a:r>
            <a:r>
              <a:rPr lang="zh-CN" altLang="en-US" b="1"/>
              <a:t>操作符区别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Node</a:t>
            </a:r>
            <a:r>
              <a:rPr lang="zh-CN" altLang="en-US"/>
              <a:t>类型操作符会自动生成额外的上下文环境，以保存时序相关信息。例如当用到时间操作符，状态机，变量的延时设置等建模单元时就需要把自定义操作符的属性设置为</a:t>
            </a:r>
            <a:r>
              <a:rPr lang="en-US" altLang="zh-CN"/>
              <a:t>Node</a:t>
            </a:r>
            <a:r>
              <a:rPr lang="zh-CN" altLang="en-US"/>
              <a:t>类型，而</a:t>
            </a:r>
            <a:r>
              <a:rPr lang="en-US" altLang="zh-CN"/>
              <a:t>function</a:t>
            </a:r>
            <a:r>
              <a:rPr lang="zh-CN" altLang="en-US"/>
              <a:t>类型是不需要生成额外的上下文环境的。</a:t>
            </a:r>
          </a:p>
        </p:txBody>
      </p:sp>
    </p:spTree>
    <p:extLst>
      <p:ext uri="{BB962C8B-B14F-4D97-AF65-F5344CB8AC3E}">
        <p14:creationId xmlns:p14="http://schemas.microsoft.com/office/powerpoint/2010/main" val="101725758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948AFCE-90A6-4E33-AEC7-43FA823F0E66}"/>
              </a:ext>
            </a:extLst>
          </p:cNvPr>
          <p:cNvSpPr txBox="1"/>
          <p:nvPr/>
        </p:nvSpPr>
        <p:spPr>
          <a:xfrm>
            <a:off x="242596" y="279918"/>
            <a:ext cx="6960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Scade_lex</a:t>
            </a:r>
            <a:r>
              <a:rPr lang="zh-CN" altLang="en-US"/>
              <a:t>有问题，若是</a:t>
            </a:r>
            <a:r>
              <a:rPr lang="en-US" altLang="zh-CN"/>
              <a:t>0x1</a:t>
            </a:r>
            <a:r>
              <a:rPr lang="zh-CN" altLang="en-US"/>
              <a:t>应该是</a:t>
            </a:r>
            <a:r>
              <a:rPr lang="en-US" altLang="zh-CN"/>
              <a:t>integernum</a:t>
            </a:r>
            <a:r>
              <a:rPr lang="zh-CN" altLang="en-US"/>
              <a:t>，但是输出确把</a:t>
            </a:r>
            <a:r>
              <a:rPr lang="en-US" altLang="zh-CN"/>
              <a:t>0</a:t>
            </a:r>
            <a:r>
              <a:rPr lang="zh-CN" altLang="en-US"/>
              <a:t>当成</a:t>
            </a:r>
            <a:r>
              <a:rPr lang="en-US" altLang="zh-CN"/>
              <a:t>intconst</a:t>
            </a:r>
            <a:r>
              <a:rPr lang="zh-CN" altLang="en-US"/>
              <a:t>，</a:t>
            </a:r>
            <a:r>
              <a:rPr lang="en-US" altLang="zh-CN"/>
              <a:t>x1</a:t>
            </a:r>
            <a:r>
              <a:rPr lang="zh-CN" altLang="en-US"/>
              <a:t>当做</a:t>
            </a:r>
            <a:r>
              <a:rPr lang="en-US" altLang="zh-CN"/>
              <a:t>lv6id</a:t>
            </a:r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57870FC-C433-47CD-81FE-4B55EB61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22" y="1442889"/>
            <a:ext cx="5249525" cy="457535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9F9C964D-C154-4F7A-83EC-C09D2410C9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346" y="1126539"/>
            <a:ext cx="6226080" cy="5616427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47B76DFF-E3E0-4F26-A0A7-1DB2B8DD5F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67962" y="89606"/>
            <a:ext cx="3210876" cy="936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162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4541A31-07F7-4610-85EC-258C25D40BB6}"/>
              </a:ext>
            </a:extLst>
          </p:cNvPr>
          <p:cNvSpPr txBox="1"/>
          <p:nvPr/>
        </p:nvSpPr>
        <p:spPr>
          <a:xfrm>
            <a:off x="390617" y="266330"/>
            <a:ext cx="22282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代码生成算法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938006C-EFC8-477A-8885-B67A358874E9}"/>
              </a:ext>
            </a:extLst>
          </p:cNvPr>
          <p:cNvSpPr txBox="1"/>
          <p:nvPr/>
        </p:nvSpPr>
        <p:spPr>
          <a:xfrm>
            <a:off x="292963" y="798990"/>
            <a:ext cx="10440140" cy="5078313"/>
          </a:xfrm>
          <a:prstGeom prst="rect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b="1"/>
              <a:t>Algorithm Code Generation</a:t>
            </a:r>
          </a:p>
          <a:p>
            <a:r>
              <a:rPr lang="en-US" altLang="zh-CN"/>
              <a:t>Input:grammerList,nodeId,nodeDict,cModel</a:t>
            </a:r>
          </a:p>
          <a:p>
            <a:r>
              <a:rPr lang="en-US" altLang="zh-CN"/>
              <a:t>Output:C Code</a:t>
            </a:r>
          </a:p>
          <a:p>
            <a:r>
              <a:rPr lang="en-US" altLang="zh-CN"/>
              <a:t>function codeGeneration(grammerList,nodeId,nodeDict,cModel)</a:t>
            </a:r>
          </a:p>
          <a:p>
            <a:r>
              <a:rPr lang="en-US" altLang="zh-CN"/>
              <a:t>	code = “”</a:t>
            </a:r>
          </a:p>
          <a:p>
            <a:r>
              <a:rPr lang="en-US" altLang="zh-CN"/>
              <a:t>	symbolTable = getSymbolTable(nodeId,nodeDict)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==“Const” do</a:t>
            </a:r>
          </a:p>
          <a:p>
            <a:r>
              <a:rPr lang="en-US" altLang="zh-CN"/>
              <a:t>		add_variable_const_def_code(code,elem,symbolTable,cModel)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               end for</a:t>
            </a:r>
          </a:p>
          <a:p>
            <a:r>
              <a:rPr lang="en-US" altLang="zh-CN"/>
              <a:t>	for elem in symbolTable do</a:t>
            </a:r>
          </a:p>
          <a:p>
            <a:r>
              <a:rPr lang="en-US" altLang="zh-CN"/>
              <a:t>	      if elem.Kind ==“Sensor” do</a:t>
            </a:r>
          </a:p>
          <a:p>
            <a:r>
              <a:rPr lang="en-US" altLang="zh-CN"/>
              <a:t>		add_variable_sensor_def_code(code,elem,symbolTable,cModel)</a:t>
            </a:r>
          </a:p>
          <a:p>
            <a:r>
              <a:rPr lang="en-US" altLang="zh-CN"/>
              <a:t>	      end if</a:t>
            </a:r>
          </a:p>
          <a:p>
            <a:r>
              <a:rPr lang="en-US" altLang="zh-CN"/>
              <a:t>	end for</a:t>
            </a:r>
          </a:p>
          <a:p>
            <a:r>
              <a:rPr lang="en-US" altLang="zh-CN"/>
              <a:t>	add_node_def_code(code,nodeId,symbolTable,nodeDict,cModel)</a:t>
            </a:r>
          </a:p>
          <a:p>
            <a:r>
              <a:rPr lang="en-US" altLang="zh-CN"/>
              <a:t>end function</a:t>
            </a:r>
          </a:p>
        </p:txBody>
      </p: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1FF409D5-AFAE-4A0E-B7F3-D5BD3545A415}"/>
              </a:ext>
            </a:extLst>
          </p:cNvPr>
          <p:cNvCxnSpPr>
            <a:cxnSpLocks/>
          </p:cNvCxnSpPr>
          <p:nvPr/>
        </p:nvCxnSpPr>
        <p:spPr>
          <a:xfrm>
            <a:off x="292963" y="1136343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EA663690-7781-4717-9779-26038ED7B144}"/>
              </a:ext>
            </a:extLst>
          </p:cNvPr>
          <p:cNvCxnSpPr>
            <a:cxnSpLocks/>
          </p:cNvCxnSpPr>
          <p:nvPr/>
        </p:nvCxnSpPr>
        <p:spPr>
          <a:xfrm>
            <a:off x="292963" y="1679360"/>
            <a:ext cx="1044014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133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D99C5A-735E-4265-8670-576E51425CB8}"/>
              </a:ext>
            </a:extLst>
          </p:cNvPr>
          <p:cNvSpPr txBox="1"/>
          <p:nvPr/>
        </p:nvSpPr>
        <p:spPr>
          <a:xfrm>
            <a:off x="195308" y="248575"/>
            <a:ext cx="567283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Expr ::= Switch_expr </a:t>
            </a:r>
          </a:p>
          <a:p>
            <a:endParaRPr lang="en-US" altLang="zh-CN"/>
          </a:p>
          <a:p>
            <a:r>
              <a:rPr lang="en-US" altLang="zh-CN"/>
              <a:t>Switch_expr ::= if Expr then Expr else Expr </a:t>
            </a:r>
          </a:p>
          <a:p>
            <a:r>
              <a:rPr lang="en-US" altLang="zh-CN"/>
              <a:t>                    ::= </a:t>
            </a:r>
            <a:r>
              <a:rPr lang="en-US" altLang="zh-CN" b="1"/>
              <a:t>( case Expr of Switch_expr_1 )</a:t>
            </a:r>
          </a:p>
          <a:p>
            <a:endParaRPr lang="en-US" altLang="zh-CN"/>
          </a:p>
          <a:p>
            <a:r>
              <a:rPr lang="en-US" altLang="zh-CN" b="1"/>
              <a:t>Switch_expr_1 ::= Case_expr Switch_expr_2</a:t>
            </a:r>
            <a:br>
              <a:rPr lang="en-US" altLang="zh-CN" b="1"/>
            </a:br>
            <a:endParaRPr lang="en-US" altLang="zh-CN" b="1"/>
          </a:p>
          <a:p>
            <a:r>
              <a:rPr lang="en-US" altLang="zh-CN" b="1"/>
              <a:t>Switch_expr_2 ::= Case_expr Switch_expr_2</a:t>
            </a:r>
            <a:br>
              <a:rPr lang="en-US" altLang="zh-CN" b="1"/>
            </a:br>
            <a:r>
              <a:rPr lang="en-US" altLang="zh-CN" b="1"/>
              <a:t>               ::= $</a:t>
            </a:r>
          </a:p>
          <a:p>
            <a:endParaRPr lang="en-US" altLang="zh-CN" b="1"/>
          </a:p>
          <a:p>
            <a:r>
              <a:rPr lang="en-US" altLang="zh-CN" b="1"/>
              <a:t>Case_expr ::= | Pattern : Expr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 ::= Path_id</a:t>
            </a:r>
            <a:br>
              <a:rPr lang="en-US" altLang="zh-CN" b="1"/>
            </a:br>
            <a:r>
              <a:rPr lang="en-US" altLang="zh-CN" b="1"/>
              <a:t>         ::= character</a:t>
            </a:r>
            <a:br>
              <a:rPr lang="en-US" altLang="zh-CN" b="1"/>
            </a:br>
            <a:r>
              <a:rPr lang="en-US" altLang="zh-CN" b="1"/>
              <a:t>         ::= Pattern_1 integernum</a:t>
            </a:r>
            <a:br>
              <a:rPr lang="en-US" altLang="zh-CN" b="1"/>
            </a:br>
            <a:r>
              <a:rPr lang="en-US" altLang="zh-CN" b="1"/>
              <a:t>         ::= Pattern_1 typed_integer</a:t>
            </a:r>
            <a:br>
              <a:rPr lang="en-US" altLang="zh-CN" b="1"/>
            </a:br>
            <a:r>
              <a:rPr lang="en-US" altLang="zh-CN" b="1"/>
              <a:t>         ::= Bool_atom</a:t>
            </a:r>
            <a:br>
              <a:rPr lang="en-US" altLang="zh-CN" b="1"/>
            </a:br>
            <a:r>
              <a:rPr lang="en-US" altLang="zh-CN" b="1"/>
              <a:t>         ::= _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Pattern_1 ::= -</a:t>
            </a:r>
            <a:br>
              <a:rPr lang="en-US" altLang="zh-CN" b="1"/>
            </a:br>
            <a:r>
              <a:rPr lang="en-US" altLang="zh-CN" b="1"/>
              <a:t>   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6A5D5AB-5B77-4960-9BCB-829F8B265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353" y="248575"/>
            <a:ext cx="6350495" cy="60788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411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8737559-8144-46B8-93EC-F4E61B915A7E}"/>
              </a:ext>
            </a:extLst>
          </p:cNvPr>
          <p:cNvSpPr txBox="1"/>
          <p:nvPr/>
        </p:nvSpPr>
        <p:spPr>
          <a:xfrm>
            <a:off x="301841" y="381740"/>
            <a:ext cx="44565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Bool_expr ::= not Expr</a:t>
            </a:r>
            <a:br>
              <a:rPr lang="en-US" altLang="zh-CN"/>
            </a:br>
            <a:r>
              <a:rPr lang="en-US" altLang="zh-CN"/>
              <a:t>           ::= Expr Bin_bool_op Expr</a:t>
            </a:r>
            <a:br>
              <a:rPr lang="en-US" altLang="zh-CN"/>
            </a:br>
            <a:r>
              <a:rPr lang="en-US" altLang="zh-CN"/>
              <a:t>           ::= </a:t>
            </a:r>
            <a:r>
              <a:rPr lang="en-US" altLang="zh-CN">
                <a:solidFill>
                  <a:srgbClr val="FF0000"/>
                </a:solidFill>
              </a:rPr>
              <a:t># ( List )</a:t>
            </a:r>
          </a:p>
          <a:p>
            <a:r>
              <a:rPr lang="en-US" altLang="zh-CN"/>
              <a:t>Bin_bool_op ::= and</a:t>
            </a:r>
            <a:br>
              <a:rPr lang="en-US" altLang="zh-CN"/>
            </a:br>
            <a:r>
              <a:rPr lang="en-US" altLang="zh-CN"/>
              <a:t>             ::= or</a:t>
            </a:r>
            <a:br>
              <a:rPr lang="en-US" altLang="zh-CN"/>
            </a:br>
            <a:r>
              <a:rPr lang="en-US" altLang="zh-CN"/>
              <a:t>             ::= xor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7DA4FFE-1F1A-4686-B364-259B58267F40}"/>
              </a:ext>
            </a:extLst>
          </p:cNvPr>
          <p:cNvSpPr txBox="1"/>
          <p:nvPr/>
        </p:nvSpPr>
        <p:spPr>
          <a:xfrm>
            <a:off x="301841" y="2551837"/>
            <a:ext cx="92238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例</a:t>
            </a:r>
            <a:r>
              <a:rPr lang="zh-CN" altLang="en-US"/>
              <a:t>：</a:t>
            </a:r>
            <a:endParaRPr lang="en-US" altLang="zh-CN"/>
          </a:p>
          <a:p>
            <a:r>
              <a:rPr lang="en-US" altLang="zh-CN"/>
              <a:t>function bool_expr(in1,in2,in3:bool;in4,in5,in6:int8) returns (out1,out2,out3:bool)</a:t>
            </a:r>
          </a:p>
          <a:p>
            <a:r>
              <a:rPr lang="en-US" altLang="zh-CN"/>
              <a:t>let</a:t>
            </a:r>
          </a:p>
          <a:p>
            <a:r>
              <a:rPr lang="en-US" altLang="zh-CN"/>
              <a:t>	out1=not in1;</a:t>
            </a:r>
          </a:p>
          <a:p>
            <a:r>
              <a:rPr lang="en-US" altLang="zh-CN"/>
              <a:t>	out2=in1 or in2;</a:t>
            </a:r>
          </a:p>
          <a:p>
            <a:r>
              <a:rPr lang="en-US" altLang="zh-CN"/>
              <a:t>	out3= #(in1,in2,in3);</a:t>
            </a:r>
          </a:p>
          <a:p>
            <a:r>
              <a:rPr lang="en-US" altLang="zh-CN"/>
              <a:t>tel</a:t>
            </a:r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E8E6F3CF-A6BC-42D6-ADAA-6518EDDCE211}"/>
              </a:ext>
            </a:extLst>
          </p:cNvPr>
          <p:cNvSpPr txBox="1"/>
          <p:nvPr/>
        </p:nvSpPr>
        <p:spPr>
          <a:xfrm>
            <a:off x="514905" y="4725205"/>
            <a:ext cx="978319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转化后程序</a:t>
            </a:r>
            <a:endParaRPr lang="en-US" altLang="zh-CN" b="1"/>
          </a:p>
          <a:p>
            <a:r>
              <a:rPr lang="en-US" altLang="zh-CN"/>
              <a:t>void bool_expr(inC_bool_expr *inC, outC_bool_expr *outC)</a:t>
            </a:r>
          </a:p>
          <a:p>
            <a:r>
              <a:rPr lang="en-US" altLang="zh-CN"/>
              <a:t>{</a:t>
            </a:r>
          </a:p>
          <a:p>
            <a:r>
              <a:rPr lang="en-US" altLang="zh-CN"/>
              <a:t>  outC-&gt;out3 = inC-&gt;in1 + inC-&gt;in2 + inC-&gt;in3 &lt;= 1;</a:t>
            </a:r>
          </a:p>
          <a:p>
            <a:r>
              <a:rPr lang="en-US" altLang="zh-CN"/>
              <a:t>  outC-&gt;out2 = inC-&gt;in1 | inC-&gt;in2;</a:t>
            </a:r>
          </a:p>
          <a:p>
            <a:r>
              <a:rPr lang="en-US" altLang="zh-CN"/>
              <a:t>  outC-&gt;out1 = !inC-&gt;in1;</a:t>
            </a:r>
          </a:p>
          <a:p>
            <a:r>
              <a:rPr lang="en-US" altLang="zh-CN"/>
              <a:t>}</a:t>
            </a:r>
          </a:p>
          <a:p>
            <a:endParaRPr lang="zh-CN" altLang="en-US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EC63727-14DF-421F-83DF-A61F6B6F4A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9977474"/>
              </p:ext>
            </p:extLst>
          </p:nvPr>
        </p:nvGraphicFramePr>
        <p:xfrm>
          <a:off x="3762159" y="381740"/>
          <a:ext cx="8128000" cy="193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2404058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63357079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not Expr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!Expr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7622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Expr1 Bin_bool_op Expr2</a:t>
                      </a:r>
                    </a:p>
                    <a:p>
                      <a:r>
                        <a:rPr lang="en-US" altLang="zh-CN"/>
                        <a:t>Bin_bool_op ::= and</a:t>
                      </a:r>
                    </a:p>
                    <a:p>
                      <a:r>
                        <a:rPr lang="en-US" altLang="zh-CN"/>
                        <a:t>                     ::= or</a:t>
                      </a:r>
                    </a:p>
                    <a:p>
                      <a:r>
                        <a:rPr lang="en-US" altLang="zh-CN"/>
                        <a:t>                     ::= xor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Expr1 &amp; Expr2</a:t>
                      </a:r>
                    </a:p>
                    <a:p>
                      <a:r>
                        <a:rPr lang="en-US" altLang="zh-CN"/>
                        <a:t>Bool_expr =Expr1 | Expr2</a:t>
                      </a:r>
                    </a:p>
                    <a:p>
                      <a:r>
                        <a:rPr lang="en-US" altLang="zh-CN"/>
                        <a:t>Bool_expr =Expr1 ^ Expr2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72576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CN"/>
                        <a:t>Bool_expr ::= #(List)</a:t>
                      </a: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/>
                        <a:t>Bool_expr = list1 + list2 + list3 &lt;=1</a:t>
                      </a:r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46991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91429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04283695-8E42-4B77-9A35-2B607CF9F2C8}"/>
              </a:ext>
            </a:extLst>
          </p:cNvPr>
          <p:cNvSpPr txBox="1"/>
          <p:nvPr/>
        </p:nvSpPr>
        <p:spPr>
          <a:xfrm>
            <a:off x="239698" y="239697"/>
            <a:ext cx="301840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List_expr ::= ( List )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 ::= List_1</a:t>
            </a:r>
            <a:br>
              <a:rPr lang="en-US" altLang="zh-CN"/>
            </a:br>
            <a:r>
              <a:rPr lang="en-US" altLang="zh-CN"/>
              <a:t>      ::= $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List_1 ::= Expr List_2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List_2 ::= , Expr List_2</a:t>
            </a:r>
            <a:br>
              <a:rPr lang="en-US" altLang="zh-CN"/>
            </a:br>
            <a:r>
              <a:rPr lang="en-US" altLang="zh-CN"/>
              <a:t>        ::= $</a:t>
            </a:r>
          </a:p>
          <a:p>
            <a:endParaRPr lang="zh-CN" altLang="en-US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B2F2369-DAF1-482A-B17D-5CE0D7AD3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9946" y="239697"/>
            <a:ext cx="6797629" cy="4313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05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E5F6958-CD0E-4E05-AE3D-0AF48C6BD7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41" y="1889924"/>
            <a:ext cx="3897296" cy="464721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6A0416E-7053-4823-85F4-F9576CE4C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5705" y="1675818"/>
            <a:ext cx="5135211" cy="5075423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8A8A1714-EEA3-441F-B546-1D25285CF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90" y="0"/>
            <a:ext cx="6866215" cy="1889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7859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B98ECB6-C4E1-4214-A89F-56CA2E1117AC}"/>
              </a:ext>
            </a:extLst>
          </p:cNvPr>
          <p:cNvSpPr txBox="1"/>
          <p:nvPr/>
        </p:nvSpPr>
        <p:spPr>
          <a:xfrm>
            <a:off x="106531" y="346638"/>
            <a:ext cx="6276513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Clocked_block ::= activate Id_zero_or_one If_block</a:t>
            </a:r>
            <a:br>
              <a:rPr lang="en-US" altLang="zh-CN"/>
            </a:br>
            <a:r>
              <a:rPr lang="en-US" altLang="zh-CN"/>
              <a:t>               ::= activate Id_zero_or_one Match_block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 b="1"/>
              <a:t>If_block ::= if Expr then If_block_1 else If_block_1</a:t>
            </a:r>
            <a:br>
              <a:rPr lang="en-US" altLang="zh-CN" b="1"/>
            </a:br>
            <a:br>
              <a:rPr lang="en-US" altLang="zh-CN" b="1"/>
            </a:br>
            <a:r>
              <a:rPr lang="en-US" altLang="zh-CN" b="1"/>
              <a:t>If_block_1 ::= Data_def</a:t>
            </a:r>
            <a:br>
              <a:rPr lang="en-US" altLang="zh-CN" b="1"/>
            </a:br>
            <a:r>
              <a:rPr lang="en-US" altLang="zh-CN" b="1"/>
              <a:t>            ::= If_block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 ::= when Expr match Match_block_1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Match_block_1 ::= | Pattern : Data_def Match_block_2</a:t>
            </a:r>
            <a:br>
              <a:rPr lang="en-US" altLang="zh-CN"/>
            </a:br>
            <a:br>
              <a:rPr lang="en-US" altLang="zh-CN"/>
            </a:br>
            <a:r>
              <a:rPr lang="en-US" altLang="zh-CN"/>
              <a:t>Match_block_2 ::= | Pattern : Data_def Match_block_2</a:t>
            </a:r>
            <a:br>
              <a:rPr lang="en-US" altLang="zh-CN"/>
            </a:br>
            <a:r>
              <a:rPr lang="en-US" altLang="zh-CN"/>
              <a:t>              ::= $</a:t>
            </a:r>
          </a:p>
          <a:p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37D8CBB-E5BC-49C7-9C67-2E946B6AB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23" y="4649561"/>
            <a:ext cx="5321618" cy="145827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414A8AF-0C97-4163-AFB8-6A15E3D06F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934" y="951948"/>
            <a:ext cx="5975639" cy="1430189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FA3703F9-C18C-44BF-A8FA-2B69752C04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852" y="2721070"/>
            <a:ext cx="6016721" cy="3745769"/>
          </a:xfrm>
          <a:prstGeom prst="rect">
            <a:avLst/>
          </a:prstGeom>
        </p:spPr>
      </p:pic>
      <p:sp>
        <p:nvSpPr>
          <p:cNvPr id="13" name="文本框 12">
            <a:extLst>
              <a:ext uri="{FF2B5EF4-FFF2-40B4-BE49-F238E27FC236}">
                <a16:creationId xmlns:a16="http://schemas.microsoft.com/office/drawing/2014/main" id="{5BF76EB8-026F-4510-8012-1244713BFC76}"/>
              </a:ext>
            </a:extLst>
          </p:cNvPr>
          <p:cNvSpPr txBox="1"/>
          <p:nvPr/>
        </p:nvSpPr>
        <p:spPr>
          <a:xfrm>
            <a:off x="106531" y="7989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文法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A3397947-2890-4A97-B41B-2B9B7CA2581C}"/>
              </a:ext>
            </a:extLst>
          </p:cNvPr>
          <p:cNvSpPr txBox="1"/>
          <p:nvPr/>
        </p:nvSpPr>
        <p:spPr>
          <a:xfrm>
            <a:off x="219123" y="4279039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FBC90992-2446-4F50-B188-6E0447159C31}"/>
              </a:ext>
            </a:extLst>
          </p:cNvPr>
          <p:cNvSpPr txBox="1"/>
          <p:nvPr/>
        </p:nvSpPr>
        <p:spPr>
          <a:xfrm>
            <a:off x="5795934" y="449247"/>
            <a:ext cx="23465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24850940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5991437-D9A9-4826-815A-624F2451FE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487" y="428336"/>
            <a:ext cx="4197914" cy="261716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9945B90D-1525-4DC1-AC6B-A5D449FDD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487" y="820811"/>
            <a:ext cx="6235562" cy="2277496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E3087A95-3BEE-4981-B8A7-6B103C34DF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0086" y="297577"/>
            <a:ext cx="5174428" cy="578250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7AE7753A-7A4A-4331-8CC9-F4B640F9B6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648" y="3379495"/>
            <a:ext cx="3796107" cy="3180928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E6E23527-0701-4497-B88C-451987BF1C0D}"/>
              </a:ext>
            </a:extLst>
          </p:cNvPr>
          <p:cNvSpPr txBox="1"/>
          <p:nvPr/>
        </p:nvSpPr>
        <p:spPr>
          <a:xfrm>
            <a:off x="677662" y="2972254"/>
            <a:ext cx="27520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/>
              <a:t>转化后的</a:t>
            </a:r>
            <a:r>
              <a:rPr lang="en-US" altLang="zh-CN" b="1"/>
              <a:t>C</a:t>
            </a:r>
            <a:r>
              <a:rPr lang="zh-CN" altLang="en-US" b="1"/>
              <a:t>程序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9308443-9B7D-4DED-B8AA-CAAE01BB4610}"/>
              </a:ext>
            </a:extLst>
          </p:cNvPr>
          <p:cNvSpPr txBox="1"/>
          <p:nvPr/>
        </p:nvSpPr>
        <p:spPr>
          <a:xfrm>
            <a:off x="182487" y="112911"/>
            <a:ext cx="259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Scade</a:t>
            </a:r>
            <a:r>
              <a:rPr lang="zh-CN" altLang="en-US" b="1"/>
              <a:t>程序</a:t>
            </a:r>
          </a:p>
        </p:txBody>
      </p:sp>
    </p:spTree>
    <p:extLst>
      <p:ext uri="{BB962C8B-B14F-4D97-AF65-F5344CB8AC3E}">
        <p14:creationId xmlns:p14="http://schemas.microsoft.com/office/powerpoint/2010/main" val="1280610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2986</TotalTime>
  <Words>1221</Words>
  <Application>Microsoft Office PowerPoint</Application>
  <PresentationFormat>宽屏</PresentationFormat>
  <Paragraphs>129</Paragraphs>
  <Slides>28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2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Savior</dc:creator>
  <cp:lastModifiedBy>Savior</cp:lastModifiedBy>
  <cp:revision>51</cp:revision>
  <dcterms:created xsi:type="dcterms:W3CDTF">2023-07-31T07:47:37Z</dcterms:created>
  <dcterms:modified xsi:type="dcterms:W3CDTF">2023-11-06T07:23:04Z</dcterms:modified>
</cp:coreProperties>
</file>